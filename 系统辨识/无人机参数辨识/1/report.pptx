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1019" r:id="rId3"/>
    <p:sldId id="1034" r:id="rId4"/>
    <p:sldId id="1035" r:id="rId5"/>
    <p:sldId id="523" r:id="rId6"/>
    <p:sldId id="1020" r:id="rId7"/>
    <p:sldId id="1021" r:id="rId8"/>
    <p:sldId id="1022" r:id="rId9"/>
    <p:sldId id="1023" r:id="rId10"/>
    <p:sldId id="1024" r:id="rId11"/>
    <p:sldId id="1025" r:id="rId12"/>
    <p:sldId id="1026" r:id="rId13"/>
    <p:sldId id="1027" r:id="rId14"/>
    <p:sldId id="1029" r:id="rId15"/>
    <p:sldId id="1037" r:id="rId16"/>
    <p:sldId id="1009" r:id="rId17"/>
    <p:sldId id="1028" r:id="rId18"/>
    <p:sldId id="1030" r:id="rId19"/>
    <p:sldId id="1031" r:id="rId20"/>
    <p:sldId id="1033" r:id="rId21"/>
    <p:sldId id="1032" r:id="rId22"/>
    <p:sldId id="1038" r:id="rId23"/>
    <p:sldId id="1017" r:id="rId24"/>
    <p:sldId id="1036" r:id="rId25"/>
    <p:sldId id="1018" r:id="rId26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20D0DFF-3A8F-4139-B2D3-A6D0577E6819}">
          <p14:sldIdLst>
            <p14:sldId id="257"/>
          </p14:sldIdLst>
        </p14:section>
        <p14:section name="研究背景" id="{6343D6B4-5B9B-43D3-85FF-16ED974BB1A6}">
          <p14:sldIdLst>
            <p14:sldId id="1019"/>
            <p14:sldId id="1034"/>
            <p14:sldId id="1035"/>
          </p14:sldIdLst>
        </p14:section>
        <p14:section name="主要方法" id="{99C81E84-FE52-4A40-93B3-52C298B8FF4E}">
          <p14:sldIdLst>
            <p14:sldId id="523"/>
            <p14:sldId id="1020"/>
            <p14:sldId id="1021"/>
            <p14:sldId id="1022"/>
            <p14:sldId id="1023"/>
            <p14:sldId id="1024"/>
            <p14:sldId id="1025"/>
            <p14:sldId id="1026"/>
            <p14:sldId id="1027"/>
            <p14:sldId id="1029"/>
          </p14:sldIdLst>
        </p14:section>
        <p14:section name="仿真复现" id="{C4134764-2255-48C7-B2B6-4AA030AA0964}">
          <p14:sldIdLst>
            <p14:sldId id="1037"/>
            <p14:sldId id="1009"/>
            <p14:sldId id="1028"/>
            <p14:sldId id="1030"/>
            <p14:sldId id="1031"/>
            <p14:sldId id="1033"/>
            <p14:sldId id="1032"/>
            <p14:sldId id="1038"/>
          </p14:sldIdLst>
        </p14:section>
        <p14:section name="总结与展望" id="{250D70CC-E410-4D4B-8B97-0E490B6D956E}">
          <p14:sldIdLst>
            <p14:sldId id="1017"/>
            <p14:sldId id="1036"/>
          </p14:sldIdLst>
        </p14:section>
        <p14:section name="结尾" id="{2A771633-A647-4514-BBCE-7C7317DE79F9}">
          <p14:sldIdLst>
            <p14:sldId id="10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LW" initials="Q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2B7"/>
    <a:srgbClr val="FEEB27"/>
    <a:srgbClr val="C85A17"/>
    <a:srgbClr val="1A365D"/>
    <a:srgbClr val="333333"/>
    <a:srgbClr val="EEE8DC"/>
    <a:srgbClr val="21488F"/>
    <a:srgbClr val="F5F5F5"/>
    <a:srgbClr val="3663C3"/>
    <a:srgbClr val="D2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8CCD97-1D31-4481-9F67-30B1ED04424C}" v="14" dt="2026-03-10T13:57:16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5220" autoAdjust="0"/>
  </p:normalViewPr>
  <p:slideViewPr>
    <p:cSldViewPr snapToGrid="0">
      <p:cViewPr varScale="1">
        <p:scale>
          <a:sx n="82" d="100"/>
          <a:sy n="82" d="100"/>
        </p:scale>
        <p:origin x="552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92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B2A218-DFD1-5CC6-2A00-349B2D4AD1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67BA83-1EEB-0A2B-D992-A55D2648A7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60037-1FAE-42BE-A39B-4A1C28308C7C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F4D92B-F42E-A2DA-733A-C8C59815F7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0F9012-7876-A7F7-2AE9-818731D669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FBA67-CC4B-4FEA-B641-2C6FD253B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16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424F3-04DE-425C-B5DA-C5431ACF0C1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8648A-7634-40C3-9FB9-FFCB5AA3A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7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7101-FC7B-0406-363C-6EDF0B41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9D538D-FA23-BF95-1F1F-B55D47724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037404-2DF3-F451-7DE4-11AD7FC11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0CA0E-5A79-4819-4423-2AF332CA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656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0DB5-7984-3AFB-0FBB-A8D59EC6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6333D3-9739-6A2E-9B0C-FAF4E41BA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525DF6-DC97-87B4-3669-473F608AD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1253A3-5198-E7E1-3496-E9A61F71A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992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8A65-0D2E-8218-74A6-66D7DED1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2DFEE2-A5F7-5535-8D1F-B90966EDC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811A4F-B36E-86D1-8815-20941C968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888CEB-E797-1768-A8E8-00BB9DC56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23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83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1AF4-2CD6-B1C1-64BB-4CD8D9465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5E4954-424E-EE0E-49B2-FF707065C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E5558D-DB82-D64A-85D4-F1AAF023D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58CEF3-A440-1DC3-1CE9-D46042117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295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0A23D-44BE-AE2B-A535-D481462F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CD8D87-CAD2-4BAD-0C87-B63FFAAE1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A07B88-1544-E787-B236-6FE957C88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156720-E98F-C6E7-66EC-DB49DC997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421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921F-BE52-4559-FF10-2F5E8A49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723BA6-B0F9-39F8-8683-B20C0359B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2FD405-E23F-4B39-8417-B062EAA89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E4FD1F-615D-8BEE-BCF4-995E5521F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001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26B7-058F-E403-5E19-361F60A5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8E3E16-1888-7F0D-DAAB-96AB4F836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3D3816-F706-17FD-8FA5-09241D6CF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0EB060-753D-F7A6-AFB9-989D0F6B9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F92CDC-EA7C-434E-8CB3-87FDAD1CD8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296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2FF4-FEA0-A325-658A-0209B1A6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BAD2A4-CAA3-D4B9-842E-612A2DDF1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BE3D5A-37B4-EC52-F1DE-7EA767C89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F7D89C-25C9-779F-3B40-013AF4AD9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F92CDC-EA7C-434E-8CB3-87FDAD1CD8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372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DF65-3A9D-1C82-D8B9-11058EBD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DDDD8B-79DB-68AF-3BA5-B132F2F70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C01F74-7B59-3758-286E-18695E446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207A1F-AA01-9394-63CE-4A61A3792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8648A-7634-40C3-9FB9-FFCB5AA3A44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3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（章节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12"/>
          <a:stretch>
            <a:fillRect/>
          </a:stretch>
        </p:blipFill>
        <p:spPr>
          <a:xfrm>
            <a:off x="207218" y="2100766"/>
            <a:ext cx="2278937" cy="516596"/>
          </a:xfrm>
          <a:prstGeom prst="rect">
            <a:avLst/>
          </a:prstGeom>
          <a:effectLst>
            <a:glow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87426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707AE-40FA-4A49-97AB-7829E9F90F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031A6-A14A-4F96-A699-8CAE0BB295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w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13.wmf"/><Relationship Id="rId4" Type="http://schemas.openxmlformats.org/officeDocument/2006/relationships/image" Target="../media/image23.png"/><Relationship Id="rId9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3.svg"/><Relationship Id="rId12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31207"/>
            <a:ext cx="12192000" cy="2795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Data-Driven System Identification of Quadrotors Subject to Motor Delays</a:t>
            </a:r>
            <a:endParaRPr lang="en-US" altLang="zh-CN" sz="4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194786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4910138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5941067" y="4062821"/>
            <a:ext cx="30988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2200" spc="2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156186" y="2723849"/>
            <a:ext cx="987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基于数据驱动的四旋翼飞行器电机延迟系统辨识</a:t>
            </a:r>
            <a:endParaRPr lang="zh-CN" altLang="en-US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7C61F0-DF95-90E8-8424-7CBAF825BDB1}"/>
              </a:ext>
            </a:extLst>
          </p:cNvPr>
          <p:cNvSpPr txBox="1"/>
          <p:nvPr/>
        </p:nvSpPr>
        <p:spPr>
          <a:xfrm>
            <a:off x="8371588" y="408924"/>
            <a:ext cx="1692492" cy="709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4DC8F6-0115-C57E-F7A5-66250BA9F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447" y="347966"/>
            <a:ext cx="3477239" cy="891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61BD-8B74-FDD4-C02E-254CF999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A96093F-8931-5DB6-6632-23DBD72B2924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9506B9-280A-AC21-0170-83E14460245F}"/>
              </a:ext>
            </a:extLst>
          </p:cNvPr>
          <p:cNvSpPr/>
          <p:nvPr/>
        </p:nvSpPr>
        <p:spPr>
          <a:xfrm>
            <a:off x="0" y="0"/>
            <a:ext cx="3074035" cy="608330"/>
          </a:xfrm>
          <a:prstGeom prst="rect">
            <a:avLst/>
          </a:prstGeom>
          <a:solidFill>
            <a:srgbClr val="21488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83BB59-5EA9-80D5-191B-AA50AE8D1E6C}"/>
              </a:ext>
            </a:extLst>
          </p:cNvPr>
          <p:cNvSpPr txBox="1"/>
          <p:nvPr/>
        </p:nvSpPr>
        <p:spPr>
          <a:xfrm>
            <a:off x="533782" y="121920"/>
            <a:ext cx="200647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研究背景与贡献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776CE76-822E-1611-9B82-A5BF8DC584C1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B6EEE25-89B3-4686-0553-13E6B5AE6D1F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D29DD1C-3D07-95C5-D165-A1317B0AF088}"/>
              </a:ext>
            </a:extLst>
          </p:cNvPr>
          <p:cNvSpPr txBox="1"/>
          <p:nvPr/>
        </p:nvSpPr>
        <p:spPr>
          <a:xfrm>
            <a:off x="10012679" y="121920"/>
            <a:ext cx="1463973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总结与展望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78B0BE-941F-C4F2-835A-411C8E54E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40" y="1437709"/>
            <a:ext cx="3556000" cy="2325291"/>
          </a:xfrm>
          <a:prstGeom prst="rect">
            <a:avLst/>
          </a:prstGeom>
        </p:spPr>
      </p:pic>
      <p:sp>
        <p:nvSpPr>
          <p:cNvPr id="10" name="AutoShape 4" descr="用无人机送快递送得最多的不是亚马逊，是7-11-品玩">
            <a:extLst>
              <a:ext uri="{FF2B5EF4-FFF2-40B4-BE49-F238E27FC236}">
                <a16:creationId xmlns:a16="http://schemas.microsoft.com/office/drawing/2014/main" id="{C60223BA-C73E-A1C8-8EA7-930701CCF7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31699" y="610541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4B88B9-AB83-AEE5-8B33-70113AC9DD02}"/>
              </a:ext>
            </a:extLst>
          </p:cNvPr>
          <p:cNvSpPr txBox="1"/>
          <p:nvPr/>
        </p:nvSpPr>
        <p:spPr>
          <a:xfrm>
            <a:off x="25258" y="656544"/>
            <a:ext cx="1859526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91DA8E-9F13-BCB3-B526-9B1C3D86EECE}"/>
              </a:ext>
            </a:extLst>
          </p:cNvPr>
          <p:cNvSpPr txBox="1"/>
          <p:nvPr/>
        </p:nvSpPr>
        <p:spPr>
          <a:xfrm>
            <a:off x="7508694" y="7950715"/>
            <a:ext cx="13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应急搜救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888495-FA94-DF5F-D38C-F8013AD7FF46}"/>
              </a:ext>
            </a:extLst>
          </p:cNvPr>
          <p:cNvSpPr txBox="1"/>
          <p:nvPr/>
        </p:nvSpPr>
        <p:spPr>
          <a:xfrm>
            <a:off x="11209369" y="8139750"/>
            <a:ext cx="13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物流配送</a:t>
            </a:r>
          </a:p>
        </p:txBody>
      </p:sp>
      <p:pic>
        <p:nvPicPr>
          <p:cNvPr id="30" name="Picture 5">
            <a:extLst>
              <a:ext uri="{FF2B5EF4-FFF2-40B4-BE49-F238E27FC236}">
                <a16:creationId xmlns:a16="http://schemas.microsoft.com/office/drawing/2014/main" id="{0A0911DC-4B4E-BA8F-7DE2-C070C784D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399940" y="1463110"/>
            <a:ext cx="3429000" cy="2286000"/>
          </a:xfrm>
          <a:prstGeom prst="rect">
            <a:avLst/>
          </a:prstGeom>
          <a:noFill/>
          <a:ln w="12700" cap="flat" cmpd="sng">
            <a:solidFill>
              <a:srgbClr val="004098">
                <a:alpha val="30000"/>
              </a:srgbClr>
            </a:solidFill>
            <a:prstDash val="solid"/>
            <a:round/>
          </a:ln>
        </p:spPr>
      </p:pic>
      <p:sp>
        <p:nvSpPr>
          <p:cNvPr id="31" name="AutoShape 6">
            <a:extLst>
              <a:ext uri="{FF2B5EF4-FFF2-40B4-BE49-F238E27FC236}">
                <a16:creationId xmlns:a16="http://schemas.microsoft.com/office/drawing/2014/main" id="{A9D798F6-C3A5-BA57-A93E-0B5FA757FED3}"/>
              </a:ext>
            </a:extLst>
          </p:cNvPr>
          <p:cNvSpPr/>
          <p:nvPr/>
        </p:nvSpPr>
        <p:spPr>
          <a:xfrm>
            <a:off x="8185577" y="1463110"/>
            <a:ext cx="3175000" cy="2286000"/>
          </a:xfrm>
          <a:prstGeom prst="roundRect">
            <a:avLst>
              <a:gd name="adj" fmla="val 0"/>
            </a:avLst>
          </a:prstGeom>
          <a:solidFill>
            <a:srgbClr val="00409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7">
            <a:extLst>
              <a:ext uri="{FF2B5EF4-FFF2-40B4-BE49-F238E27FC236}">
                <a16:creationId xmlns:a16="http://schemas.microsoft.com/office/drawing/2014/main" id="{C728A21B-BABE-F1B3-4223-D8061DDB2613}"/>
              </a:ext>
            </a:extLst>
          </p:cNvPr>
          <p:cNvSpPr/>
          <p:nvPr/>
        </p:nvSpPr>
        <p:spPr>
          <a:xfrm>
            <a:off x="8185577" y="1463110"/>
            <a:ext cx="50800" cy="22860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8">
            <a:extLst>
              <a:ext uri="{FF2B5EF4-FFF2-40B4-BE49-F238E27FC236}">
                <a16:creationId xmlns:a16="http://schemas.microsoft.com/office/drawing/2014/main" id="{C502442B-ACC0-D337-93D0-770514887228}"/>
              </a:ext>
            </a:extLst>
          </p:cNvPr>
          <p:cNvSpPr/>
          <p:nvPr/>
        </p:nvSpPr>
        <p:spPr>
          <a:xfrm>
            <a:off x="8376077" y="1653610"/>
            <a:ext cx="2857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空中智能平台的崛起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四旋翼无人机凭借灵活的垂直起降与悬停能力，已成为跨行业的核心技术载体，从民生服务到工业运维，构建起多维立体的应用生态</a:t>
            </a:r>
            <a:r>
              <a:rPr lang="en-US" sz="14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</p:txBody>
      </p:sp>
      <p:cxnSp>
        <p:nvCxnSpPr>
          <p:cNvPr id="34" name="Connector 9">
            <a:extLst>
              <a:ext uri="{FF2B5EF4-FFF2-40B4-BE49-F238E27FC236}">
                <a16:creationId xmlns:a16="http://schemas.microsoft.com/office/drawing/2014/main" id="{27724A26-15C7-48B6-129F-B222942C353E}"/>
              </a:ext>
            </a:extLst>
          </p:cNvPr>
          <p:cNvCxnSpPr/>
          <p:nvPr/>
        </p:nvCxnSpPr>
        <p:spPr>
          <a:xfrm rot="-4092">
            <a:off x="589944" y="412376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" name="AutoShape 10">
            <a:extLst>
              <a:ext uri="{FF2B5EF4-FFF2-40B4-BE49-F238E27FC236}">
                <a16:creationId xmlns:a16="http://schemas.microsoft.com/office/drawing/2014/main" id="{47D41F62-443B-4D18-3265-B58288BF2067}"/>
              </a:ext>
            </a:extLst>
          </p:cNvPr>
          <p:cNvSpPr/>
          <p:nvPr/>
        </p:nvSpPr>
        <p:spPr>
          <a:xfrm>
            <a:off x="589940" y="438411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12">
            <a:extLst>
              <a:ext uri="{FF2B5EF4-FFF2-40B4-BE49-F238E27FC236}">
                <a16:creationId xmlns:a16="http://schemas.microsoft.com/office/drawing/2014/main" id="{EFEEB75B-E434-8753-356E-0EC6D922EE39}"/>
              </a:ext>
            </a:extLst>
          </p:cNvPr>
          <p:cNvSpPr/>
          <p:nvPr/>
        </p:nvSpPr>
        <p:spPr>
          <a:xfrm>
            <a:off x="849160" y="453651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多元场景：从应急救援到物流基建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Connector 13">
            <a:extLst>
              <a:ext uri="{FF2B5EF4-FFF2-40B4-BE49-F238E27FC236}">
                <a16:creationId xmlns:a16="http://schemas.microsoft.com/office/drawing/2014/main" id="{E0533B66-C982-88B0-F460-501DB6FC58CB}"/>
              </a:ext>
            </a:extLst>
          </p:cNvPr>
          <p:cNvCxnSpPr/>
          <p:nvPr/>
        </p:nvCxnSpPr>
        <p:spPr>
          <a:xfrm rot="-8929">
            <a:off x="780448" y="501276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14">
            <a:extLst>
              <a:ext uri="{FF2B5EF4-FFF2-40B4-BE49-F238E27FC236}">
                <a16:creationId xmlns:a16="http://schemas.microsoft.com/office/drawing/2014/main" id="{E82D5B10-AEBD-516C-814F-C766CCD45CAD}"/>
              </a:ext>
            </a:extLst>
          </p:cNvPr>
          <p:cNvSpPr/>
          <p:nvPr/>
        </p:nvSpPr>
        <p:spPr>
          <a:xfrm>
            <a:off x="780440" y="514611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涵盖灾难搜救、电力</a:t>
            </a:r>
            <a:r>
              <a:rPr lang="en-US" sz="1400" b="0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/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交通设施巡检及物流包裹配送等场景。其机动优势解决了人类难以抵达或效率低下的痛点，成为现代社会不可或缺的技术延伸</a:t>
            </a:r>
            <a:r>
              <a:rPr lang="en-US" sz="1400" b="0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15">
            <a:extLst>
              <a:ext uri="{FF2B5EF4-FFF2-40B4-BE49-F238E27FC236}">
                <a16:creationId xmlns:a16="http://schemas.microsoft.com/office/drawing/2014/main" id="{AFBEFAB2-B4AA-E744-EE2D-0680574D099E}"/>
              </a:ext>
            </a:extLst>
          </p:cNvPr>
          <p:cNvSpPr/>
          <p:nvPr/>
        </p:nvSpPr>
        <p:spPr>
          <a:xfrm>
            <a:off x="6114440" y="438411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17">
            <a:extLst>
              <a:ext uri="{FF2B5EF4-FFF2-40B4-BE49-F238E27FC236}">
                <a16:creationId xmlns:a16="http://schemas.microsoft.com/office/drawing/2014/main" id="{F7349D28-7EB6-A276-C27F-5C723CFCF3C6}"/>
              </a:ext>
            </a:extLst>
          </p:cNvPr>
          <p:cNvSpPr/>
          <p:nvPr/>
        </p:nvSpPr>
        <p:spPr>
          <a:xfrm>
            <a:off x="6348608" y="453651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 dirty="0" err="1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现有瓶颈：PID控制的性能天花板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Connector 18">
            <a:extLst>
              <a:ext uri="{FF2B5EF4-FFF2-40B4-BE49-F238E27FC236}">
                <a16:creationId xmlns:a16="http://schemas.microsoft.com/office/drawing/2014/main" id="{837B82B9-EE60-9F86-7B07-6D9073312D8B}"/>
              </a:ext>
            </a:extLst>
          </p:cNvPr>
          <p:cNvCxnSpPr/>
          <p:nvPr/>
        </p:nvCxnSpPr>
        <p:spPr>
          <a:xfrm rot="-8929">
            <a:off x="6304948" y="501276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91C1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AutoShape 19">
            <a:extLst>
              <a:ext uri="{FF2B5EF4-FFF2-40B4-BE49-F238E27FC236}">
                <a16:creationId xmlns:a16="http://schemas.microsoft.com/office/drawing/2014/main" id="{FBB2B7C1-BCC0-7A4B-D5A8-BE34B3F4B4AA}"/>
              </a:ext>
            </a:extLst>
          </p:cNvPr>
          <p:cNvSpPr/>
          <p:nvPr/>
        </p:nvSpPr>
        <p:spPr>
          <a:xfrm>
            <a:off x="6304940" y="514611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主流级联PID控制依赖人工经验整定参数，过程繁琐且通用性差；同时其线性控制框架在面对强耦合、非线性的复杂飞行环境时，理论性能存在明显上限。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47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FE88-2355-71D4-C7A5-11DED4FF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7D196D4-47A6-4E7B-6461-377498245AAC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40ADA2-0131-4ED0-5C31-7A877E5526A3}"/>
              </a:ext>
            </a:extLst>
          </p:cNvPr>
          <p:cNvSpPr/>
          <p:nvPr/>
        </p:nvSpPr>
        <p:spPr>
          <a:xfrm>
            <a:off x="0" y="0"/>
            <a:ext cx="3074035" cy="608330"/>
          </a:xfrm>
          <a:prstGeom prst="rect">
            <a:avLst/>
          </a:prstGeom>
          <a:solidFill>
            <a:srgbClr val="21488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9CBE39-FF85-C588-AEED-C651881A9137}"/>
              </a:ext>
            </a:extLst>
          </p:cNvPr>
          <p:cNvSpPr txBox="1"/>
          <p:nvPr/>
        </p:nvSpPr>
        <p:spPr>
          <a:xfrm>
            <a:off x="533782" y="121920"/>
            <a:ext cx="200647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研究背景与贡献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24C1A6B-7B8E-AE3B-A01A-DF492664FE3D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C876C58-5792-DCAE-D2D2-6D835C79E9F8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81EA9CE-D6D2-A5A2-1C39-A5BF52F6A72B}"/>
              </a:ext>
            </a:extLst>
          </p:cNvPr>
          <p:cNvSpPr txBox="1"/>
          <p:nvPr/>
        </p:nvSpPr>
        <p:spPr>
          <a:xfrm>
            <a:off x="10012679" y="121920"/>
            <a:ext cx="1463973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总结与展望</a:t>
            </a:r>
          </a:p>
        </p:txBody>
      </p:sp>
      <p:sp>
        <p:nvSpPr>
          <p:cNvPr id="10" name="AutoShape 4" descr="用无人机送快递送得最多的不是亚马逊，是7-11-品玩">
            <a:extLst>
              <a:ext uri="{FF2B5EF4-FFF2-40B4-BE49-F238E27FC236}">
                <a16:creationId xmlns:a16="http://schemas.microsoft.com/office/drawing/2014/main" id="{85BD0C5D-0973-3191-4FA3-EA0DC2AD20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31699" y="610541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374F10-5411-DF10-3C9F-4A41D8BC3764}"/>
              </a:ext>
            </a:extLst>
          </p:cNvPr>
          <p:cNvSpPr txBox="1"/>
          <p:nvPr/>
        </p:nvSpPr>
        <p:spPr>
          <a:xfrm>
            <a:off x="25258" y="656544"/>
            <a:ext cx="1859526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DAD5A9-756F-AF18-C8E3-20B777F94C83}"/>
              </a:ext>
            </a:extLst>
          </p:cNvPr>
          <p:cNvSpPr txBox="1"/>
          <p:nvPr/>
        </p:nvSpPr>
        <p:spPr>
          <a:xfrm>
            <a:off x="7508694" y="7950715"/>
            <a:ext cx="13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应急搜救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DCE7AC-EC18-3965-86E3-987D00CD1442}"/>
              </a:ext>
            </a:extLst>
          </p:cNvPr>
          <p:cNvSpPr txBox="1"/>
          <p:nvPr/>
        </p:nvSpPr>
        <p:spPr>
          <a:xfrm>
            <a:off x="11209369" y="8139750"/>
            <a:ext cx="13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物流配送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DE73E70-CC27-2BD3-2D7A-14486A1C141F}"/>
              </a:ext>
            </a:extLst>
          </p:cNvPr>
          <p:cNvSpPr/>
          <p:nvPr/>
        </p:nvSpPr>
        <p:spPr>
          <a:xfrm>
            <a:off x="630477" y="1381691"/>
            <a:ext cx="10668000" cy="1397000"/>
          </a:xfrm>
          <a:prstGeom prst="roundRect">
            <a:avLst>
              <a:gd name="adj" fmla="val 0"/>
            </a:avLst>
          </a:prstGeom>
          <a:solidFill>
            <a:srgbClr val="004098">
              <a:alpha val="6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5ABD427-EB33-2F7E-E957-88E80A130081}"/>
              </a:ext>
            </a:extLst>
          </p:cNvPr>
          <p:cNvSpPr/>
          <p:nvPr/>
        </p:nvSpPr>
        <p:spPr>
          <a:xfrm>
            <a:off x="861862" y="1508691"/>
            <a:ext cx="10098412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先进控制策略的核心前提：准确的动力学模型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模型预测控制</a:t>
            </a: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 (MPC)、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强化学习</a:t>
            </a: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 (RL) 等前沿方法虽能实现卓越的控制性能，但其控制效果高度依赖系统动力学模型的准确性。若模型存在偏差，控制器的鲁棒性与最优性将大幅下降，甚至导致系统失稳。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F6BC700-C873-8C62-B547-6ABDCE47B3B4}"/>
              </a:ext>
            </a:extLst>
          </p:cNvPr>
          <p:cNvSpPr/>
          <p:nvPr/>
        </p:nvSpPr>
        <p:spPr>
          <a:xfrm>
            <a:off x="630477" y="3159691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F074FE3-4EED-B78C-57F7-9AE62656FCD4}"/>
              </a:ext>
            </a:extLst>
          </p:cNvPr>
          <p:cNvSpPr/>
          <p:nvPr/>
        </p:nvSpPr>
        <p:spPr>
          <a:xfrm>
            <a:off x="885174" y="3312091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白箱方法</a:t>
            </a:r>
            <a:r>
              <a:rPr lang="en-US" sz="18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：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B25A6152-0438-8E79-6F45-E73ADE0158D7}"/>
              </a:ext>
            </a:extLst>
          </p:cNvPr>
          <p:cNvCxnSpPr/>
          <p:nvPr/>
        </p:nvCxnSpPr>
        <p:spPr>
          <a:xfrm rot="-9291">
            <a:off x="884486" y="3915341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1">
            <a:extLst>
              <a:ext uri="{FF2B5EF4-FFF2-40B4-BE49-F238E27FC236}">
                <a16:creationId xmlns:a16="http://schemas.microsoft.com/office/drawing/2014/main" id="{605D4167-41BF-99CD-D8B5-636CA1175C59}"/>
              </a:ext>
            </a:extLst>
          </p:cNvPr>
          <p:cNvSpPr/>
          <p:nvPr/>
        </p:nvSpPr>
        <p:spPr>
          <a:xfrm>
            <a:off x="884477" y="4112191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依赖推力测试台、运动捕捉系统等昂贵专业设备，且测试环境与真实飞行工况存在显著差异，导致建模误差不可避免；同时，实验流程复杂，难以在实际应用中快速部署和复现。</a:t>
            </a:r>
            <a:endParaRPr lang="en-US" sz="1600" dirty="0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008E9502-85D6-3E81-D569-97845D415F55}"/>
              </a:ext>
            </a:extLst>
          </p:cNvPr>
          <p:cNvSpPr/>
          <p:nvPr/>
        </p:nvSpPr>
        <p:spPr>
          <a:xfrm>
            <a:off x="6091477" y="3159691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DA448FC-73FD-6925-BFA5-BA41F5F006F5}"/>
              </a:ext>
            </a:extLst>
          </p:cNvPr>
          <p:cNvSpPr/>
          <p:nvPr/>
        </p:nvSpPr>
        <p:spPr>
          <a:xfrm>
            <a:off x="6390015" y="3312091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黑箱方法</a:t>
            </a:r>
            <a:r>
              <a:rPr lang="en-US" sz="18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：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Connector 15">
            <a:extLst>
              <a:ext uri="{FF2B5EF4-FFF2-40B4-BE49-F238E27FC236}">
                <a16:creationId xmlns:a16="http://schemas.microsoft.com/office/drawing/2014/main" id="{090D24D4-277F-9951-5760-8E4758FF9FF3}"/>
              </a:ext>
            </a:extLst>
          </p:cNvPr>
          <p:cNvCxnSpPr/>
          <p:nvPr/>
        </p:nvCxnSpPr>
        <p:spPr>
          <a:xfrm rot="-9291">
            <a:off x="6345486" y="3915341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6">
            <a:extLst>
              <a:ext uri="{FF2B5EF4-FFF2-40B4-BE49-F238E27FC236}">
                <a16:creationId xmlns:a16="http://schemas.microsoft.com/office/drawing/2014/main" id="{156A06DC-78F5-C9C8-0800-80610ED9DA9B}"/>
              </a:ext>
            </a:extLst>
          </p:cNvPr>
          <p:cNvSpPr/>
          <p:nvPr/>
        </p:nvSpPr>
        <p:spPr>
          <a:xfrm>
            <a:off x="6345477" y="4112191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将系统视为纯黑箱，缺乏物理可解释性与泛化能力；且普遍忽略电机动态延迟这一核心因素。由于商用无人机通常无RPM传感器，电机延迟难以直接测量，成为提升模型精度的核心障碍。</a:t>
            </a:r>
            <a:endParaRPr lang="en-US" sz="1600" dirty="0"/>
          </a:p>
        </p:txBody>
      </p:sp>
      <p:sp>
        <p:nvSpPr>
          <p:cNvPr id="20" name="AutoShape 18">
            <a:extLst>
              <a:ext uri="{FF2B5EF4-FFF2-40B4-BE49-F238E27FC236}">
                <a16:creationId xmlns:a16="http://schemas.microsoft.com/office/drawing/2014/main" id="{5B2C91F4-E6A9-19E0-6B2D-E6AA72BC39A4}"/>
              </a:ext>
            </a:extLst>
          </p:cNvPr>
          <p:cNvSpPr/>
          <p:nvPr/>
        </p:nvSpPr>
        <p:spPr>
          <a:xfrm>
            <a:off x="757477" y="5928291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核心痛点：</a:t>
            </a: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现有方法难以兼顾“低成本、易部署”与“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高精度、强解释性</a:t>
            </a: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”，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亟需一种融合物理先验的新型辨识方案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900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AC6A-DF4B-CFC4-01D7-5B996FE4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2335D3-6BB6-7A33-185E-12B0667C216C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F5621C-E723-CD26-46FC-1E2319363274}"/>
              </a:ext>
            </a:extLst>
          </p:cNvPr>
          <p:cNvSpPr/>
          <p:nvPr/>
        </p:nvSpPr>
        <p:spPr>
          <a:xfrm>
            <a:off x="0" y="0"/>
            <a:ext cx="3074035" cy="608330"/>
          </a:xfrm>
          <a:prstGeom prst="rect">
            <a:avLst/>
          </a:prstGeom>
          <a:solidFill>
            <a:srgbClr val="21488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4DA2A4-3764-90D6-D3A8-B4193CF6EF7B}"/>
              </a:ext>
            </a:extLst>
          </p:cNvPr>
          <p:cNvSpPr txBox="1"/>
          <p:nvPr/>
        </p:nvSpPr>
        <p:spPr>
          <a:xfrm>
            <a:off x="533782" y="121920"/>
            <a:ext cx="200647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研究背景与贡献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30FBB1-30F3-9654-BA36-3E11730E4318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0F2A61F-A604-7EA6-717D-0AA1213C4DDC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2527352-3EBB-F9E7-C522-CC83C815EAEA}"/>
              </a:ext>
            </a:extLst>
          </p:cNvPr>
          <p:cNvSpPr txBox="1"/>
          <p:nvPr/>
        </p:nvSpPr>
        <p:spPr>
          <a:xfrm>
            <a:off x="10012679" y="121920"/>
            <a:ext cx="1463973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总结与展望</a:t>
            </a:r>
          </a:p>
        </p:txBody>
      </p:sp>
      <p:sp>
        <p:nvSpPr>
          <p:cNvPr id="10" name="AutoShape 4" descr="用无人机送快递送得最多的不是亚马逊，是7-11-品玩">
            <a:extLst>
              <a:ext uri="{FF2B5EF4-FFF2-40B4-BE49-F238E27FC236}">
                <a16:creationId xmlns:a16="http://schemas.microsoft.com/office/drawing/2014/main" id="{13B42AF7-ABE0-32D2-D8B7-5D279E479F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31699" y="610541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5F4871-B120-B2F9-FF3D-511932A3B76A}"/>
              </a:ext>
            </a:extLst>
          </p:cNvPr>
          <p:cNvSpPr txBox="1"/>
          <p:nvPr/>
        </p:nvSpPr>
        <p:spPr>
          <a:xfrm>
            <a:off x="25258" y="656544"/>
            <a:ext cx="1859526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贡献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2CEE6B-EAAD-06A0-6150-831A5015BFD1}"/>
              </a:ext>
            </a:extLst>
          </p:cNvPr>
          <p:cNvSpPr txBox="1"/>
          <p:nvPr/>
        </p:nvSpPr>
        <p:spPr>
          <a:xfrm>
            <a:off x="7508694" y="7950715"/>
            <a:ext cx="13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应急搜救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964D14-7902-7621-1500-1DF991551A73}"/>
              </a:ext>
            </a:extLst>
          </p:cNvPr>
          <p:cNvSpPr txBox="1"/>
          <p:nvPr/>
        </p:nvSpPr>
        <p:spPr>
          <a:xfrm>
            <a:off x="11209369" y="8139750"/>
            <a:ext cx="13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物流配送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419B71-3841-86AE-44CB-A351E4AC9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37" y="2130878"/>
            <a:ext cx="10285880" cy="33835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292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/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A2BB08-01FB-0856-5FD9-CC4918855DD0}"/>
              </a:ext>
            </a:extLst>
          </p:cNvPr>
          <p:cNvSpPr txBox="1"/>
          <p:nvPr/>
        </p:nvSpPr>
        <p:spPr>
          <a:xfrm>
            <a:off x="63987" y="820035"/>
            <a:ext cx="1206339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基本模型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491765-0175-CDC5-F5A6-ADBD0FA27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83" y="1317992"/>
            <a:ext cx="4152900" cy="55911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BDD6D5D-5E25-821E-23C3-84A06487A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336" y="2150184"/>
            <a:ext cx="5974876" cy="351698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E2E9-AE8E-6D14-916D-6D0AC851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177901C-4884-9809-E0EE-7F4DCCFB83E2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07F61C-14DC-C41C-8505-EB1E74AF4273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0A2D8-AD6A-26AD-3A5E-6DB09FA7333F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37B4A69-7020-E586-E706-53ADE1B19131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F81D6C9-B674-C35E-ED95-42607C6DAFF9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970E60-A55B-BE09-E11B-7D27E4ACA6AB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4AAD2FA2-D166-CE3F-059B-8AE775DF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71" y="1386885"/>
            <a:ext cx="4152900" cy="559117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E3B08895-3998-F39F-86CF-DABC30A49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5360"/>
            <a:ext cx="2324100" cy="771525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A47096B3-6AA7-6FAE-A700-8A99684E1FA8}"/>
              </a:ext>
            </a:extLst>
          </p:cNvPr>
          <p:cNvSpPr/>
          <p:nvPr/>
        </p:nvSpPr>
        <p:spPr>
          <a:xfrm>
            <a:off x="1084082" y="4536106"/>
            <a:ext cx="3648173" cy="2139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1B36F81-F4E2-7CD6-2C6B-F3A8D3E24073}"/>
              </a:ext>
            </a:extLst>
          </p:cNvPr>
          <p:cNvSpPr/>
          <p:nvPr/>
        </p:nvSpPr>
        <p:spPr>
          <a:xfrm>
            <a:off x="1084082" y="1386886"/>
            <a:ext cx="3648173" cy="832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7DFB779-D572-B294-A3EF-B55BDE710C97}"/>
              </a:ext>
            </a:extLst>
          </p:cNvPr>
          <p:cNvSpPr/>
          <p:nvPr/>
        </p:nvSpPr>
        <p:spPr>
          <a:xfrm>
            <a:off x="861571" y="3329477"/>
            <a:ext cx="3648173" cy="1206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B5BC31E-598F-B001-69D1-796430095BC0}"/>
              </a:ext>
            </a:extLst>
          </p:cNvPr>
          <p:cNvSpPr/>
          <p:nvPr/>
        </p:nvSpPr>
        <p:spPr>
          <a:xfrm>
            <a:off x="4732255" y="2735588"/>
            <a:ext cx="2149312" cy="32100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31FF83E1-564B-BCC3-D7D0-AA9BAFA1E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531" y="2004618"/>
            <a:ext cx="4423354" cy="210394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7F491D1B-3E8D-5A47-AAFD-916DE32CE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507" y="4728603"/>
            <a:ext cx="5563950" cy="1758852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2A79AFA-4A6E-35B9-E5F5-9B1772A058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050" y="3383157"/>
            <a:ext cx="3194581" cy="1188823"/>
          </a:xfrm>
          <a:prstGeom prst="rect">
            <a:avLst/>
          </a:prstGeom>
        </p:spPr>
      </p:pic>
      <p:sp>
        <p:nvSpPr>
          <p:cNvPr id="60" name="箭头: 下 59">
            <a:extLst>
              <a:ext uri="{FF2B5EF4-FFF2-40B4-BE49-F238E27FC236}">
                <a16:creationId xmlns:a16="http://schemas.microsoft.com/office/drawing/2014/main" id="{CC934AE9-4231-E4C6-9A58-28EF5EBEB408}"/>
              </a:ext>
            </a:extLst>
          </p:cNvPr>
          <p:cNvSpPr/>
          <p:nvPr/>
        </p:nvSpPr>
        <p:spPr>
          <a:xfrm>
            <a:off x="8861196" y="4155695"/>
            <a:ext cx="245097" cy="56102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AF127BE9-C93D-DA09-CA75-AF27109D99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997" y="5038908"/>
            <a:ext cx="5027073" cy="1758852"/>
          </a:xfrm>
          <a:prstGeom prst="rect">
            <a:avLst/>
          </a:prstGeom>
        </p:spPr>
      </p:pic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3B669B43-4C67-CFFE-307E-46F7C1227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307865"/>
              </p:ext>
            </p:extLst>
          </p:nvPr>
        </p:nvGraphicFramePr>
        <p:xfrm>
          <a:off x="2047090" y="4442650"/>
          <a:ext cx="1715940" cy="66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7200" imgH="177480" progId="Equation.DSMT4">
                  <p:embed/>
                </p:oleObj>
              </mc:Choice>
              <mc:Fallback>
                <p:oleObj name="Equation" r:id="rId9" imgW="457200" imgH="177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9B67BE4-537F-CBD1-4F66-75FD84633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7090" y="4442650"/>
                        <a:ext cx="1715940" cy="66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椭圆 62">
            <a:extLst>
              <a:ext uri="{FF2B5EF4-FFF2-40B4-BE49-F238E27FC236}">
                <a16:creationId xmlns:a16="http://schemas.microsoft.com/office/drawing/2014/main" id="{75E4F717-EE9F-4B5B-C038-0569661CC769}"/>
              </a:ext>
            </a:extLst>
          </p:cNvPr>
          <p:cNvSpPr/>
          <p:nvPr/>
        </p:nvSpPr>
        <p:spPr>
          <a:xfrm>
            <a:off x="1391102" y="5913117"/>
            <a:ext cx="361491" cy="350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E32B222E-DEE4-810D-99A7-984C8DAE18DF}"/>
              </a:ext>
            </a:extLst>
          </p:cNvPr>
          <p:cNvSpPr/>
          <p:nvPr/>
        </p:nvSpPr>
        <p:spPr>
          <a:xfrm>
            <a:off x="2172184" y="5866228"/>
            <a:ext cx="361491" cy="350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5B9DEDE-D87B-E637-5F1A-00DB54FF3ED8}"/>
              </a:ext>
            </a:extLst>
          </p:cNvPr>
          <p:cNvSpPr/>
          <p:nvPr/>
        </p:nvSpPr>
        <p:spPr>
          <a:xfrm>
            <a:off x="2953266" y="5913117"/>
            <a:ext cx="361491" cy="350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8FB4B4FD-C845-219F-262C-86096DEE0A5D}"/>
              </a:ext>
            </a:extLst>
          </p:cNvPr>
          <p:cNvSpPr/>
          <p:nvPr/>
        </p:nvSpPr>
        <p:spPr>
          <a:xfrm>
            <a:off x="2653377" y="6263493"/>
            <a:ext cx="361491" cy="350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4B95EE6E-25D9-387B-089D-0B92DFFB76E2}"/>
              </a:ext>
            </a:extLst>
          </p:cNvPr>
          <p:cNvSpPr/>
          <p:nvPr/>
        </p:nvSpPr>
        <p:spPr>
          <a:xfrm>
            <a:off x="3470595" y="6305533"/>
            <a:ext cx="361491" cy="350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04D564DE-AEE4-1412-4F4F-01E0A9FBC30A}"/>
              </a:ext>
            </a:extLst>
          </p:cNvPr>
          <p:cNvSpPr/>
          <p:nvPr/>
        </p:nvSpPr>
        <p:spPr>
          <a:xfrm>
            <a:off x="4287813" y="6267581"/>
            <a:ext cx="361491" cy="350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5F293C83-7C84-2B7F-DE87-56D52D6554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5031" y="5821605"/>
            <a:ext cx="3067050" cy="533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211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60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0F9B-F08A-92CC-2B9F-D8D2F67C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8C876F6-1C21-E8A3-D140-6F8562D0EEF5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12D926-DAB9-80EA-E034-24400C23FAEC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0BD4DF-6AA1-11D2-5E3F-70FDE1FC8527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7D819CA-90D9-A274-5150-5D02F89C9BA4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7E66CDF-D6F9-D3F1-6808-C2F67313E0F5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059ED1A-56B2-4D5F-149D-0F19C5726C81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979B309-1352-01D5-F080-188EF2E2C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3570"/>
            <a:ext cx="2324100" cy="7715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55E1032-DC7A-C414-9283-6AA56A52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65" y="1776764"/>
            <a:ext cx="3804270" cy="69365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67A5E4F7-6AB5-ED9C-BFEA-BF92F2B98A6D}"/>
              </a:ext>
            </a:extLst>
          </p:cNvPr>
          <p:cNvSpPr/>
          <p:nvPr/>
        </p:nvSpPr>
        <p:spPr>
          <a:xfrm>
            <a:off x="4160247" y="1895385"/>
            <a:ext cx="1725105" cy="31501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91139A-2CFC-97B0-5237-3076A8809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916" y="1124547"/>
            <a:ext cx="4686300" cy="2171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606FE3-420E-1C3E-6C6D-EFA48EB66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221" y="3388129"/>
            <a:ext cx="5463545" cy="340366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0FE4D7E-7D9C-A583-9524-DC8802DA33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662" y="5006990"/>
            <a:ext cx="5724690" cy="13897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47757A-F0F3-76F3-BA86-E6D9B75627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965" y="3138054"/>
            <a:ext cx="3857625" cy="16954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362539D-7110-0CFA-19E6-DBF3A0CC9AFD}"/>
              </a:ext>
            </a:extLst>
          </p:cNvPr>
          <p:cNvSpPr txBox="1"/>
          <p:nvPr/>
        </p:nvSpPr>
        <p:spPr>
          <a:xfrm>
            <a:off x="4579150" y="1632555"/>
            <a:ext cx="756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E108F6-A217-5951-AF00-0AF1CD0655BC}"/>
              </a:ext>
            </a:extLst>
          </p:cNvPr>
          <p:cNvSpPr/>
          <p:nvPr/>
        </p:nvSpPr>
        <p:spPr>
          <a:xfrm>
            <a:off x="6437221" y="5658025"/>
            <a:ext cx="5463545" cy="490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2B1216-9C66-692F-1E20-6C2EB74F0722}"/>
              </a:ext>
            </a:extLst>
          </p:cNvPr>
          <p:cNvSpPr/>
          <p:nvPr/>
        </p:nvSpPr>
        <p:spPr>
          <a:xfrm>
            <a:off x="291234" y="6151611"/>
            <a:ext cx="5463545" cy="245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5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6C0A3-4CEA-B4A4-3265-C50301C1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E603D04-ECD5-897D-56A6-21FBB112D42A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E650A1-1B35-EB3C-7797-C1203891342F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CB3BF4-BCDC-7592-F7B8-E512A38B1C1F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CA00CEF-30C8-A725-E2C8-8D15EA9FEB7A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F89DA2A-BEFA-06EF-9B93-4DC56359E547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1CB90AC-A187-85FC-4078-1B6C190528A9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E7549D2-C559-4774-ACA0-813C96DC5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5360"/>
            <a:ext cx="2324100" cy="77152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7DDD70B-26FD-C621-AB61-55696DFD5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74" y="1777981"/>
            <a:ext cx="2876550" cy="609600"/>
          </a:xfrm>
          <a:prstGeom prst="rect">
            <a:avLst/>
          </a:prstGeom>
        </p:spPr>
      </p:pic>
      <p:sp>
        <p:nvSpPr>
          <p:cNvPr id="27" name="箭头: 右 26">
            <a:extLst>
              <a:ext uri="{FF2B5EF4-FFF2-40B4-BE49-F238E27FC236}">
                <a16:creationId xmlns:a16="http://schemas.microsoft.com/office/drawing/2014/main" id="{909453DF-88AD-1B11-1A08-E25D40E4D4B5}"/>
              </a:ext>
            </a:extLst>
          </p:cNvPr>
          <p:cNvSpPr/>
          <p:nvPr/>
        </p:nvSpPr>
        <p:spPr>
          <a:xfrm>
            <a:off x="3084824" y="1948057"/>
            <a:ext cx="2177592" cy="29301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47AA16D-BE6C-E747-F4FE-959CF22C600D}"/>
              </a:ext>
            </a:extLst>
          </p:cNvPr>
          <p:cNvSpPr txBox="1"/>
          <p:nvPr/>
        </p:nvSpPr>
        <p:spPr>
          <a:xfrm>
            <a:off x="5524106" y="1909899"/>
            <a:ext cx="497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最大后验估计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Maximum A Posteriori, MAP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AA2BDC4A-454F-57E3-751C-85E45A9EC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106" y="2387581"/>
            <a:ext cx="5362575" cy="208597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C03D376B-7D78-AB14-C2B4-8A75C22CD659}"/>
              </a:ext>
            </a:extLst>
          </p:cNvPr>
          <p:cNvSpPr txBox="1"/>
          <p:nvPr/>
        </p:nvSpPr>
        <p:spPr>
          <a:xfrm>
            <a:off x="339365" y="3791390"/>
            <a:ext cx="4637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本质上，在均匀先验（对每个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Tm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没有预设偏见）以及各向同性高斯观测模型（对观测噪声的一般假设）的条件下，求解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等价于最小二乘估计中的残差平方和最小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796C416A-212C-36AB-7573-1E2F3E361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3141" y="4581906"/>
            <a:ext cx="5972175" cy="2066925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521104C-4B5A-93B6-C9E2-3C5811AFC5CE}"/>
              </a:ext>
            </a:extLst>
          </p:cNvPr>
          <p:cNvSpPr/>
          <p:nvPr/>
        </p:nvSpPr>
        <p:spPr>
          <a:xfrm>
            <a:off x="5667410" y="5011857"/>
            <a:ext cx="5778631" cy="9615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967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4EA87-2AC7-E1E4-08B4-9C84DF58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B6DDB4A-9929-E3A3-06C1-21E84F60E6D6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EC388E-AEBA-15A2-4F88-A564996DE5FE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F32524-F06A-FD56-27CD-C764F4218813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6E1CD39-9217-8602-49C9-FBFB5FE4C618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1514F6D-F9EC-49DC-2AD0-B660C21B3D03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42CF22B-F5E7-83A6-8BBE-4BCC31C1BD7E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6B86ED0-FEC1-37E6-3726-CB1CDEEC6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5360"/>
            <a:ext cx="2367966" cy="70932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985D451-8638-5993-97CF-5DE969EC0767}"/>
              </a:ext>
            </a:extLst>
          </p:cNvPr>
          <p:cNvSpPr txBox="1"/>
          <p:nvPr/>
        </p:nvSpPr>
        <p:spPr>
          <a:xfrm>
            <a:off x="518966" y="1512694"/>
            <a:ext cx="5550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在不失一般性的前提下，假设惯性矩阵与刚体主轴对齐，因此为对角形式，即：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CC8B4E-B614-0E37-712F-F719000C7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981" y="1835859"/>
            <a:ext cx="2619375" cy="3714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4C5D7D-D73A-A2E6-C14C-35ACFD157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66" y="2192608"/>
            <a:ext cx="3571381" cy="51116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E29B846-AA07-5D9A-9498-2E6042F65A55}"/>
              </a:ext>
            </a:extLst>
          </p:cNvPr>
          <p:cNvSpPr/>
          <p:nvPr/>
        </p:nvSpPr>
        <p:spPr>
          <a:xfrm>
            <a:off x="318645" y="2159025"/>
            <a:ext cx="3571381" cy="2928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8409DE-3EF2-1192-18F6-591DB1708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0668" y="5142191"/>
            <a:ext cx="1635399" cy="33465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90A9DD9-E6C0-263B-B8AB-72DB73EC4326}"/>
              </a:ext>
            </a:extLst>
          </p:cNvPr>
          <p:cNvSpPr/>
          <p:nvPr/>
        </p:nvSpPr>
        <p:spPr>
          <a:xfrm>
            <a:off x="394060" y="6690327"/>
            <a:ext cx="2762053" cy="424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CF6AAC-A67A-2D44-6697-B4EDED9A12FC}"/>
              </a:ext>
            </a:extLst>
          </p:cNvPr>
          <p:cNvSpPr/>
          <p:nvPr/>
        </p:nvSpPr>
        <p:spPr>
          <a:xfrm>
            <a:off x="518966" y="5410936"/>
            <a:ext cx="1635399" cy="563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E7B1BF-8038-4C9A-81DB-480CEFCAB2EB}"/>
              </a:ext>
            </a:extLst>
          </p:cNvPr>
          <p:cNvSpPr/>
          <p:nvPr/>
        </p:nvSpPr>
        <p:spPr>
          <a:xfrm>
            <a:off x="676864" y="5974766"/>
            <a:ext cx="3413483" cy="715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40386BC-ED65-6789-C9A6-D896121B0BDF}"/>
              </a:ext>
            </a:extLst>
          </p:cNvPr>
          <p:cNvSpPr/>
          <p:nvPr/>
        </p:nvSpPr>
        <p:spPr>
          <a:xfrm>
            <a:off x="3345730" y="5229172"/>
            <a:ext cx="921272" cy="18176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0D146B6-A17A-691D-DFF8-B68B1D3011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892" y="1512694"/>
            <a:ext cx="4991599" cy="780174"/>
          </a:xfrm>
          <a:prstGeom prst="rect">
            <a:avLst/>
          </a:prstGeom>
        </p:spPr>
      </p:pic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F1C5047-9891-0E6E-D651-D10B5D092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078516"/>
              </p:ext>
            </p:extLst>
          </p:nvPr>
        </p:nvGraphicFramePr>
        <p:xfrm>
          <a:off x="7956521" y="2698220"/>
          <a:ext cx="1715940" cy="66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177480" progId="Equation.DSMT4">
                  <p:embed/>
                </p:oleObj>
              </mc:Choice>
              <mc:Fallback>
                <p:oleObj name="Equation" r:id="rId8" imgW="457200" imgH="177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E4AA14C-F299-25B8-67D1-29417DD98B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56521" y="2698220"/>
                        <a:ext cx="1715940" cy="66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1A65B8E6-158D-DB15-B9A0-F8787A3D62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1482" y="3848775"/>
            <a:ext cx="5972175" cy="29425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72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8026-213F-F83A-C277-34224611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376F49B-9D48-0C6E-330D-96E1311925B4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66BB24-5AB3-87E7-0838-B9D3D7D5F6C6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1C2F3B-902F-C24B-5FD3-E1372E93AF8D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580DC5-3F37-472A-2F2F-BCE802750EC1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F8ED388-FEAF-3865-7004-616A25971A59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23FC418-1128-58C7-F37F-F485EF1A51A6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F05143-AB54-034D-8CAF-74D4C66DA58C}"/>
              </a:ext>
            </a:extLst>
          </p:cNvPr>
          <p:cNvSpPr/>
          <p:nvPr/>
        </p:nvSpPr>
        <p:spPr>
          <a:xfrm>
            <a:off x="394060" y="6690327"/>
            <a:ext cx="2762053" cy="424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12F42B2-AF66-9DB1-9B99-30EFE8C2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6" y="615360"/>
            <a:ext cx="2367966" cy="70932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8D41157-CD51-8927-9DFC-006D7DC0D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791" y="1493712"/>
            <a:ext cx="5038154" cy="248235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1FCD2B4-1978-834F-AD4C-B9181CAA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6" y="3944770"/>
            <a:ext cx="7124700" cy="10763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29F54C2-9103-9B1F-CCA9-EC3F2823E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" y="5103628"/>
            <a:ext cx="3048000" cy="1038225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1EBBCDD-5BFA-6558-9FF0-8B50298DDF42}"/>
              </a:ext>
            </a:extLst>
          </p:cNvPr>
          <p:cNvCxnSpPr/>
          <p:nvPr/>
        </p:nvCxnSpPr>
        <p:spPr>
          <a:xfrm>
            <a:off x="1734054" y="1561443"/>
            <a:ext cx="578739" cy="339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7C36226-06D2-1620-B3CF-A9450A3EB8BE}"/>
              </a:ext>
            </a:extLst>
          </p:cNvPr>
          <p:cNvCxnSpPr/>
          <p:nvPr/>
        </p:nvCxnSpPr>
        <p:spPr>
          <a:xfrm>
            <a:off x="2582410" y="1578691"/>
            <a:ext cx="578739" cy="339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9B762A4-D6D3-0DD8-3B28-5B430F3E1BFB}"/>
              </a:ext>
            </a:extLst>
          </p:cNvPr>
          <p:cNvCxnSpPr/>
          <p:nvPr/>
        </p:nvCxnSpPr>
        <p:spPr>
          <a:xfrm>
            <a:off x="948892" y="1924410"/>
            <a:ext cx="578739" cy="339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2E43B36-B24E-936C-0728-BA555F5135C8}"/>
              </a:ext>
            </a:extLst>
          </p:cNvPr>
          <p:cNvCxnSpPr/>
          <p:nvPr/>
        </p:nvCxnSpPr>
        <p:spPr>
          <a:xfrm>
            <a:off x="2658832" y="1997839"/>
            <a:ext cx="578739" cy="339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113E9A6-491F-36B3-2655-CAE7FA15F0E0}"/>
              </a:ext>
            </a:extLst>
          </p:cNvPr>
          <p:cNvCxnSpPr>
            <a:cxnSpLocks/>
          </p:cNvCxnSpPr>
          <p:nvPr/>
        </p:nvCxnSpPr>
        <p:spPr>
          <a:xfrm>
            <a:off x="828990" y="2453164"/>
            <a:ext cx="473218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3DC77345-4AAE-B3A0-03FF-8B68F5803F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40" y="2220745"/>
            <a:ext cx="4886325" cy="1724025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D8F4D6A-24AE-92BB-2AA6-4F24FB66646F}"/>
              </a:ext>
            </a:extLst>
          </p:cNvPr>
          <p:cNvSpPr/>
          <p:nvPr/>
        </p:nvSpPr>
        <p:spPr>
          <a:xfrm>
            <a:off x="7305040" y="2706039"/>
            <a:ext cx="4749544" cy="339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A276DC-9BF4-F693-3C35-8FEDD27B32BD}"/>
              </a:ext>
            </a:extLst>
          </p:cNvPr>
          <p:cNvSpPr/>
          <p:nvPr/>
        </p:nvSpPr>
        <p:spPr>
          <a:xfrm>
            <a:off x="7373430" y="3590980"/>
            <a:ext cx="4749544" cy="339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633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2827D-63D8-A30A-4A26-BE84976F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5413225-0066-BBE5-9B9B-FADF51BBB261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F04BCF-1028-13F8-5C04-90F86A25BE1F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CD6A6E-4AD8-B896-0DA5-D68BB611010D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738A410-F790-7CDA-AFB9-B725A06916D3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9063A59-867D-FD37-6965-FB9586B6F945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A584FC9-5419-CB03-5C3E-9FC7FB5180AB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166F0D-4437-408F-46F8-28B3263DA9E6}"/>
              </a:ext>
            </a:extLst>
          </p:cNvPr>
          <p:cNvSpPr/>
          <p:nvPr/>
        </p:nvSpPr>
        <p:spPr>
          <a:xfrm>
            <a:off x="394060" y="6690327"/>
            <a:ext cx="2762053" cy="424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45F240-7463-EA0E-4042-A2A7D0C46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82" y="614413"/>
            <a:ext cx="2367966" cy="7093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DA6483-598F-37CA-132A-2F03457DE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70" y="1323741"/>
            <a:ext cx="5317680" cy="26200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D4886CF-50BB-0B56-7CD4-0EF8ABDFC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70" y="3766580"/>
            <a:ext cx="7524750" cy="14668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E30AFD-3B29-9DC9-9313-0C42A94720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294" y="5362459"/>
            <a:ext cx="4216902" cy="9334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541B63-2C50-0661-416F-3A1E3379D1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6699" y="1068845"/>
            <a:ext cx="2505075" cy="1991213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912E211-C715-8E7E-7051-003550314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666285"/>
              </p:ext>
            </p:extLst>
          </p:nvPr>
        </p:nvGraphicFramePr>
        <p:xfrm>
          <a:off x="8641266" y="3276513"/>
          <a:ext cx="1715940" cy="66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7200" imgH="177480" progId="Equation.DSMT4">
                  <p:embed/>
                </p:oleObj>
              </mc:Choice>
              <mc:Fallback>
                <p:oleObj name="Equation" r:id="rId9" imgW="457200" imgH="177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CD79D48-1FD5-68E3-0F12-7B2F8C31E8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41266" y="3276513"/>
                        <a:ext cx="1715940" cy="66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FA3D522F-B321-1DB6-1742-C7DCB10C7A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6445" y="4116006"/>
            <a:ext cx="3171825" cy="73195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FDDB680-F273-C542-3D07-8132AD21D8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2595" y="5752918"/>
            <a:ext cx="7088770" cy="974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172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91A9-7D3C-C0C2-CD90-44DD6B5B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C593757-F8B5-67DB-251D-E30C4AE652F6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90DBE8-729E-F327-68A6-4028FE2142F6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F453D2-EBC9-6A89-430D-0B20DBF65DFD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F4CF184-A2D4-C368-F69E-0E2D0F6381AE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05A0A3C-4A60-5379-73BF-B7263BF3056B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95CA8AA-D413-234B-9DAA-4AEEB0850C3C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E2F8EB-3A76-0EA0-A249-52D558A8B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70"/>
            <a:ext cx="2367966" cy="70932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9A63050-4586-A5CC-CAAF-DBFD9531C93A}"/>
              </a:ext>
            </a:extLst>
          </p:cNvPr>
          <p:cNvSpPr txBox="1"/>
          <p:nvPr/>
        </p:nvSpPr>
        <p:spPr>
          <a:xfrm>
            <a:off x="75906" y="1504615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对于外形固定、密度与质量分布均匀的模型，其惯量分量随尺寸的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次方缩放，因此惯量比值在不同 尺度下保持恒定。作者收集了多款四旋翼无人机的惯性矩阵数值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18633B3-2A39-6F40-01CA-A8D87CB0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043" y="2601498"/>
            <a:ext cx="9419582" cy="413458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AAF8604-31A1-B30B-841C-EC4A98F80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495" y="1332898"/>
            <a:ext cx="3605042" cy="10950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233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2986-4709-9250-B734-3F5AB069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18A017-10D6-FDD5-7B73-6785525358BE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4DC0ED-0343-7414-E499-9D461C4CFCB6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AA1120-C9B1-C45B-EE59-3E0975A6E0B3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AE3D9F4-A7D5-9E8D-4702-37FA085C3B6A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17A767B-A3AB-898E-0C24-181DD72D5CDC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7EF3D9F-75F6-90D7-D93B-564EFCE360EE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56C597-A0EB-9DEE-54DD-2A9F3581E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9" y="630109"/>
            <a:ext cx="2367966" cy="7093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BEC97EB-8CFB-8ECA-6D36-87084B4B28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250" y="1640846"/>
            <a:ext cx="2162175" cy="904331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113E11FB-0E6A-5AE9-1470-386A43D75A79}"/>
              </a:ext>
            </a:extLst>
          </p:cNvPr>
          <p:cNvSpPr/>
          <p:nvPr/>
        </p:nvSpPr>
        <p:spPr>
          <a:xfrm>
            <a:off x="2663101" y="1899762"/>
            <a:ext cx="1989056" cy="3864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5F160B-E95F-2C6C-214B-FD16C7BFA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389" y="1660949"/>
            <a:ext cx="2590800" cy="1066800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A730D6E-84FE-4392-80A6-022FB2E36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834343"/>
              </p:ext>
            </p:extLst>
          </p:nvPr>
        </p:nvGraphicFramePr>
        <p:xfrm>
          <a:off x="7981421" y="1759357"/>
          <a:ext cx="1715940" cy="66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177480" progId="Equation.DSMT4">
                  <p:embed/>
                </p:oleObj>
              </mc:Choice>
              <mc:Fallback>
                <p:oleObj name="Equation" r:id="rId7" imgW="457200" imgH="177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BBA6E69-75BD-A30F-92E0-A1EF3F276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81421" y="1759357"/>
                        <a:ext cx="1715940" cy="66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63CBDBC-2E04-81B1-901C-272F0C5FA8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6198" y="2727749"/>
            <a:ext cx="4114800" cy="10858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9B24E76-149F-E6AE-DC99-56E41F654A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578" y="4216153"/>
            <a:ext cx="7686675" cy="233362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4D9E530-34FB-3B3B-FF04-06443662411C}"/>
              </a:ext>
            </a:extLst>
          </p:cNvPr>
          <p:cNvSpPr/>
          <p:nvPr/>
        </p:nvSpPr>
        <p:spPr>
          <a:xfrm>
            <a:off x="678578" y="4265447"/>
            <a:ext cx="4749544" cy="339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8238C4-8246-CD36-8EBE-4BE4B5B921EF}"/>
              </a:ext>
            </a:extLst>
          </p:cNvPr>
          <p:cNvSpPr/>
          <p:nvPr/>
        </p:nvSpPr>
        <p:spPr>
          <a:xfrm>
            <a:off x="678578" y="6069305"/>
            <a:ext cx="5750694" cy="409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8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8EC7-03D3-DDF3-821E-E7F17901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3067B0D-5414-7870-E8A5-3C7967153D96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5EF913-6D4D-8197-6263-275A911FC6F5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1E33CE-B578-8BB7-7D82-1A35F6797897}"/>
              </a:ext>
            </a:extLst>
          </p:cNvPr>
          <p:cNvSpPr/>
          <p:nvPr/>
        </p:nvSpPr>
        <p:spPr>
          <a:xfrm>
            <a:off x="3074035" y="762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BFA4BB8-E3F2-AE0B-2CEF-FEB39BB06D15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1F7AC69-F7ED-10EC-CD2E-D4E404249FA0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FA95B0A-DB36-A79F-71EA-9D2C5A6FB4A3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BF2C23B-693F-EACC-1F2D-FFD4702A38C2}"/>
              </a:ext>
            </a:extLst>
          </p:cNvPr>
          <p:cNvSpPr/>
          <p:nvPr/>
        </p:nvSpPr>
        <p:spPr>
          <a:xfrm>
            <a:off x="271599" y="2139049"/>
            <a:ext cx="27305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3EB06B5C-A487-9DAC-DC81-F1965C70A814}"/>
              </a:ext>
            </a:extLst>
          </p:cNvPr>
          <p:cNvSpPr/>
          <p:nvPr/>
        </p:nvSpPr>
        <p:spPr>
          <a:xfrm>
            <a:off x="271599" y="2139049"/>
            <a:ext cx="508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2FA4B0BD-97A7-416C-40F1-904011AC77DD}"/>
              </a:ext>
            </a:extLst>
          </p:cNvPr>
          <p:cNvSpPr/>
          <p:nvPr/>
        </p:nvSpPr>
        <p:spPr>
          <a:xfrm>
            <a:off x="398599" y="2202549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01 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数据采集与准备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执行垂直升降、平移、小角度旋转等激励动作，采集1分钟IMU数据与电机指令，为后续辨识提供输入。</a:t>
            </a:r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8FA0CBFC-BAC4-1CFB-A16D-0901569DC40C}"/>
              </a:ext>
            </a:extLst>
          </p:cNvPr>
          <p:cNvSpPr/>
          <p:nvPr/>
        </p:nvSpPr>
        <p:spPr>
          <a:xfrm>
            <a:off x="4502125" y="2139049"/>
            <a:ext cx="27305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03E86D05-C6D8-11B3-61F1-B528C98540C2}"/>
              </a:ext>
            </a:extLst>
          </p:cNvPr>
          <p:cNvSpPr/>
          <p:nvPr/>
        </p:nvSpPr>
        <p:spPr>
          <a:xfrm>
            <a:off x="4502125" y="2139049"/>
            <a:ext cx="508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AutoShape 13">
                <a:extLst>
                  <a:ext uri="{FF2B5EF4-FFF2-40B4-BE49-F238E27FC236}">
                    <a16:creationId xmlns:a16="http://schemas.microsoft.com/office/drawing/2014/main" id="{AD5C4F4E-14CA-51DE-940C-5498897DEAA8}"/>
                  </a:ext>
                </a:extLst>
              </p:cNvPr>
              <p:cNvSpPr/>
              <p:nvPr/>
            </p:nvSpPr>
            <p:spPr>
              <a:xfrm>
                <a:off x="4629125" y="2202549"/>
                <a:ext cx="2540000" cy="1016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 dirty="0">
                    <a:solidFill>
                      <a:srgbClr val="00409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02 </a:t>
                </a:r>
                <a:r>
                  <a:rPr lang="en-US" sz="1600" b="1" i="0" u="none" strike="noStrike" dirty="0" err="1">
                    <a:solidFill>
                      <a:srgbClr val="00409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电机参数优化与递推</a:t>
                </a:r>
                <a:endParaRPr 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08000"/>
                  </a:lnSpc>
                </a:pP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通过一维扫值确定最优电机延迟常数并以此</a:t>
                </a:r>
                <a:r>
                  <a:rPr lang="zh-CN" alt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经过</a:t>
                </a:r>
                <a:r>
                  <a:rPr lang="en-US" altLang="zh-CN" sz="1200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EMA</a:t>
                </a: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得到电机实际转速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𝑚𝑖</m:t>
                        </m:r>
                      </m:sub>
                    </m:sSub>
                    <m:r>
                      <a:rPr lang="zh-CN" altLang="en-US" sz="12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zh-CN" altLang="en-US" sz="12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zh-CN" altLang="en-US" sz="12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12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。</m:t>
                    </m:r>
                  </m:oMath>
                </a14:m>
                <a:endParaRPr lang="en-US" sz="1200" b="0" i="0" u="none" strike="noStrike" dirty="0">
                  <a:solidFill>
                    <a:srgbClr val="3C3C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500000000000000" charset="-122"/>
                  <a:sym typeface="Noto Sans SC" panose="020B0500000000000000" charset="-122"/>
                </a:endParaRPr>
              </a:p>
            </p:txBody>
          </p:sp>
        </mc:Choice>
        <mc:Fallback xmlns="">
          <p:sp>
            <p:nvSpPr>
              <p:cNvPr id="17" name="AutoShape 13">
                <a:extLst>
                  <a:ext uri="{FF2B5EF4-FFF2-40B4-BE49-F238E27FC236}">
                    <a16:creationId xmlns:a16="http://schemas.microsoft.com/office/drawing/2014/main" id="{AD5C4F4E-14CA-51DE-940C-5498897DEA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25" y="2202549"/>
                <a:ext cx="2540000" cy="1016000"/>
              </a:xfrm>
              <a:prstGeom prst="rect">
                <a:avLst/>
              </a:prstGeom>
              <a:blipFill>
                <a:blip r:embed="rId4"/>
                <a:stretch>
                  <a:fillRect l="-4796" b="-2994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utoShape 14">
            <a:extLst>
              <a:ext uri="{FF2B5EF4-FFF2-40B4-BE49-F238E27FC236}">
                <a16:creationId xmlns:a16="http://schemas.microsoft.com/office/drawing/2014/main" id="{78E56DEF-AF42-3B45-D06E-044D431C5CE3}"/>
              </a:ext>
            </a:extLst>
          </p:cNvPr>
          <p:cNvSpPr/>
          <p:nvPr/>
        </p:nvSpPr>
        <p:spPr>
          <a:xfrm>
            <a:off x="8945445" y="2139049"/>
            <a:ext cx="27305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FF5EA78A-0C3C-394D-AEA5-061E9BB5B771}"/>
              </a:ext>
            </a:extLst>
          </p:cNvPr>
          <p:cNvSpPr/>
          <p:nvPr/>
        </p:nvSpPr>
        <p:spPr>
          <a:xfrm>
            <a:off x="8945445" y="2139049"/>
            <a:ext cx="508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AutoShape 16">
                <a:extLst>
                  <a:ext uri="{FF2B5EF4-FFF2-40B4-BE49-F238E27FC236}">
                    <a16:creationId xmlns:a16="http://schemas.microsoft.com/office/drawing/2014/main" id="{B9859422-C4B0-A973-D954-783160CBCD15}"/>
                  </a:ext>
                </a:extLst>
              </p:cNvPr>
              <p:cNvSpPr/>
              <p:nvPr/>
            </p:nvSpPr>
            <p:spPr>
              <a:xfrm>
                <a:off x="9072445" y="2202549"/>
                <a:ext cx="2540000" cy="1016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 dirty="0">
                    <a:solidFill>
                      <a:srgbClr val="00409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03 </a:t>
                </a:r>
                <a:r>
                  <a:rPr lang="en-US" sz="1600" b="1" i="0" u="none" strike="noStrike" dirty="0" err="1">
                    <a:solidFill>
                      <a:srgbClr val="00409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推力模型与推力计算</a:t>
                </a:r>
                <a:endParaRPr 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08000"/>
                  </a:lnSpc>
                </a:pP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构建线性方程组，用最小二乘法求解推力系数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u="none" strike="noStrike" dirty="0" err="1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500000000000000" charset="-122"/>
                            <a:sym typeface="Noto Sans SC" panose="020B0500000000000000" charset="-122"/>
                          </a:rPr>
                        </m:ctrlPr>
                      </m:sSubPr>
                      <m:e>
                        <m:r>
                          <a:rPr lang="en-US" sz="1200" b="0" i="1" u="none" strike="noStrike" dirty="0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500000000000000" charset="-122"/>
                            <a:sym typeface="Noto Sans SC" panose="020B0500000000000000" charset="-122"/>
                          </a:rPr>
                          <m:t>𝐾</m:t>
                        </m:r>
                      </m:e>
                      <m:sub>
                        <m:r>
                          <a:rPr lang="en-US" sz="1200" b="0" i="1" u="none" strike="noStrike" dirty="0" err="1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500000000000000" charset="-122"/>
                            <a:sym typeface="Noto Sans SC" panose="020B0500000000000000" charset="-12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，结合</a:t>
                </a:r>
                <a:r>
                  <a:rPr lang="en-US" altLang="zh-CN" sz="12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lang="zh-CN" altLang="en-US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𝑚𝑖</m:t>
                        </m:r>
                      </m:sub>
                    </m:sSub>
                    <m:r>
                      <a:rPr lang="zh-CN" altLang="en-US" sz="12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计算出各时刻的旋翼实际推力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2" name="AutoShape 16">
                <a:extLst>
                  <a:ext uri="{FF2B5EF4-FFF2-40B4-BE49-F238E27FC236}">
                    <a16:creationId xmlns:a16="http://schemas.microsoft.com/office/drawing/2014/main" id="{B9859422-C4B0-A973-D954-783160CBC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445" y="2202549"/>
                <a:ext cx="2540000" cy="1016000"/>
              </a:xfrm>
              <a:prstGeom prst="rect">
                <a:avLst/>
              </a:prstGeom>
              <a:blipFill>
                <a:blip r:embed="rId5"/>
                <a:stretch>
                  <a:fillRect l="-4796" r="-1439" b="-3593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utoShape 17">
            <a:extLst>
              <a:ext uri="{FF2B5EF4-FFF2-40B4-BE49-F238E27FC236}">
                <a16:creationId xmlns:a16="http://schemas.microsoft.com/office/drawing/2014/main" id="{1D164703-4433-2EFF-31CF-70799406F38D}"/>
              </a:ext>
            </a:extLst>
          </p:cNvPr>
          <p:cNvSpPr/>
          <p:nvPr/>
        </p:nvSpPr>
        <p:spPr>
          <a:xfrm>
            <a:off x="8945445" y="4454622"/>
            <a:ext cx="27305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8">
            <a:extLst>
              <a:ext uri="{FF2B5EF4-FFF2-40B4-BE49-F238E27FC236}">
                <a16:creationId xmlns:a16="http://schemas.microsoft.com/office/drawing/2014/main" id="{B0758923-5BFA-03B4-DD3B-759431E8EF23}"/>
              </a:ext>
            </a:extLst>
          </p:cNvPr>
          <p:cNvSpPr/>
          <p:nvPr/>
        </p:nvSpPr>
        <p:spPr>
          <a:xfrm>
            <a:off x="8945445" y="4454622"/>
            <a:ext cx="508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9">
            <a:extLst>
              <a:ext uri="{FF2B5EF4-FFF2-40B4-BE49-F238E27FC236}">
                <a16:creationId xmlns:a16="http://schemas.microsoft.com/office/drawing/2014/main" id="{B7F7B8A4-A83A-5EEB-FC58-57EEFD54ECB4}"/>
              </a:ext>
            </a:extLst>
          </p:cNvPr>
          <p:cNvSpPr/>
          <p:nvPr/>
        </p:nvSpPr>
        <p:spPr>
          <a:xfrm>
            <a:off x="9072445" y="4518122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04 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转动惯量</a:t>
            </a: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(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Ixx</a:t>
            </a: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, 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Iyy</a:t>
            </a: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)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辨识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 dirty="0" err="1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利用滚转、俯仰通道的角动力学方程构建线性系统，基于实测数据求解出横滚与俯仰轴的转动惯量参数</a:t>
            </a:r>
            <a:r>
              <a:rPr lang="en-US" sz="1200" b="0" i="0" u="none" strike="noStrike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</p:txBody>
      </p:sp>
      <p:sp>
        <p:nvSpPr>
          <p:cNvPr id="26" name="AutoShape 20">
            <a:extLst>
              <a:ext uri="{FF2B5EF4-FFF2-40B4-BE49-F238E27FC236}">
                <a16:creationId xmlns:a16="http://schemas.microsoft.com/office/drawing/2014/main" id="{4EA17C1A-741B-28F2-47BA-5B1D50521071}"/>
              </a:ext>
            </a:extLst>
          </p:cNvPr>
          <p:cNvSpPr/>
          <p:nvPr/>
        </p:nvSpPr>
        <p:spPr>
          <a:xfrm>
            <a:off x="4502125" y="4454622"/>
            <a:ext cx="27305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1">
            <a:extLst>
              <a:ext uri="{FF2B5EF4-FFF2-40B4-BE49-F238E27FC236}">
                <a16:creationId xmlns:a16="http://schemas.microsoft.com/office/drawing/2014/main" id="{541FF163-6DAB-0D9C-0A9F-EB864E117334}"/>
              </a:ext>
            </a:extLst>
          </p:cNvPr>
          <p:cNvSpPr/>
          <p:nvPr/>
        </p:nvSpPr>
        <p:spPr>
          <a:xfrm>
            <a:off x="4502125" y="4454622"/>
            <a:ext cx="508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05E3398C-4A0D-F078-AEB7-9FFB52300028}"/>
              </a:ext>
            </a:extLst>
          </p:cNvPr>
          <p:cNvSpPr/>
          <p:nvPr/>
        </p:nvSpPr>
        <p:spPr>
          <a:xfrm>
            <a:off x="4629125" y="4518122"/>
            <a:ext cx="260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05 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偏航惯量</a:t>
            </a: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(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Izz</a:t>
            </a: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)</a:t>
            </a:r>
            <a:r>
              <a:rPr lang="en-US" sz="16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与扭矩系数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000"/>
              </a:lnSpc>
            </a:pPr>
            <a:r>
              <a:rPr lang="en-US" sz="1200" b="0" i="0" u="none" strike="noStrike" dirty="0" err="1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由统计比例关系估算Izz，代入偏航动力学方程，最终求解出关键的扭矩系数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Kτ</a:t>
            </a:r>
            <a:r>
              <a:rPr lang="zh-CN" altLang="en-US" sz="12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500000000000000" charset="-122"/>
              </a:rPr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3">
            <a:extLst>
              <a:ext uri="{FF2B5EF4-FFF2-40B4-BE49-F238E27FC236}">
                <a16:creationId xmlns:a16="http://schemas.microsoft.com/office/drawing/2014/main" id="{83F23FA1-43E5-AEEA-BAF0-C49D80A18C84}"/>
              </a:ext>
            </a:extLst>
          </p:cNvPr>
          <p:cNvSpPr/>
          <p:nvPr/>
        </p:nvSpPr>
        <p:spPr>
          <a:xfrm>
            <a:off x="296999" y="4454622"/>
            <a:ext cx="27305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C39544D1-8717-FA1D-EFB4-E7D4C9789088}"/>
              </a:ext>
            </a:extLst>
          </p:cNvPr>
          <p:cNvSpPr/>
          <p:nvPr/>
        </p:nvSpPr>
        <p:spPr>
          <a:xfrm>
            <a:off x="296999" y="4454622"/>
            <a:ext cx="50800" cy="1143000"/>
          </a:xfrm>
          <a:prstGeom prst="roundRect">
            <a:avLst>
              <a:gd name="adj" fmla="val 0"/>
            </a:avLst>
          </a:prstGeom>
          <a:solidFill>
            <a:srgbClr val="00409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AutoShape 25">
                <a:extLst>
                  <a:ext uri="{FF2B5EF4-FFF2-40B4-BE49-F238E27FC236}">
                    <a16:creationId xmlns:a16="http://schemas.microsoft.com/office/drawing/2014/main" id="{7F30916E-4F39-8B8D-ADC0-3F740CA41A04}"/>
                  </a:ext>
                </a:extLst>
              </p:cNvPr>
              <p:cNvSpPr/>
              <p:nvPr/>
            </p:nvSpPr>
            <p:spPr>
              <a:xfrm>
                <a:off x="423999" y="4518122"/>
                <a:ext cx="2540000" cy="1016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 dirty="0">
                    <a:solidFill>
                      <a:srgbClr val="00409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06 </a:t>
                </a:r>
                <a:r>
                  <a:rPr lang="en-US" sz="1600" b="1" i="0" u="none" strike="noStrike" dirty="0" err="1">
                    <a:solidFill>
                      <a:srgbClr val="00409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完整参数集输出</a:t>
                </a:r>
                <a:endParaRPr 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08000"/>
                  </a:lnSpc>
                </a:pP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整合所有环节的计算结果，输出包含</a:t>
                </a:r>
                <a:r>
                  <a:rPr lang="en-US" altLang="zh-CN" sz="12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e>
                      <m:sub>
                        <m:r>
                          <a:rPr lang="zh-CN" altLang="en-US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500000000000000" charset="-122"/>
                            <a:sym typeface="Noto Sans SC" panose="020B0500000000000000" charset="-122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500000000000000" charset="-122"/>
                            <a:sym typeface="Noto Sans SC" panose="020B0500000000000000" charset="-122"/>
                          </a:rPr>
                          <m:t>𝐾</m:t>
                        </m:r>
                      </m:e>
                      <m:sub>
                        <m:r>
                          <a:rPr lang="en-US" altLang="zh-CN" sz="1200" i="1" dirty="0" err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500000000000000" charset="-122"/>
                            <a:sym typeface="Noto Sans SC" panose="020B0500000000000000" charset="-12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, </a:t>
                </a: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Ixx</a:t>
                </a:r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, </a:t>
                </a: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Iyy</a:t>
                </a:r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, </a:t>
                </a: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Izz</a:t>
                </a:r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, 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Kτ </a:t>
                </a:r>
                <a:r>
                  <a:rPr lang="en-US" sz="1200" b="0" i="0" u="none" strike="noStrike" dirty="0" err="1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的全套辨识参数，完成系统</a:t>
                </a:r>
                <a:r>
                  <a:rPr lang="zh-CN" alt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辨识</a:t>
                </a:r>
                <a:r>
                  <a:rPr lang="en-US" sz="1200" b="0" i="0" u="none" strike="noStrike" dirty="0">
                    <a:solidFill>
                      <a:srgbClr val="3C3C3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500000000000000" charset="-122"/>
                    <a:sym typeface="Noto Sans SC" panose="020B0500000000000000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1" name="AutoShape 25">
                <a:extLst>
                  <a:ext uri="{FF2B5EF4-FFF2-40B4-BE49-F238E27FC236}">
                    <a16:creationId xmlns:a16="http://schemas.microsoft.com/office/drawing/2014/main" id="{7F30916E-4F39-8B8D-ADC0-3F740CA41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9" y="4518122"/>
                <a:ext cx="2540000" cy="1016000"/>
              </a:xfrm>
              <a:prstGeom prst="rect">
                <a:avLst/>
              </a:prstGeom>
              <a:blipFill>
                <a:blip r:embed="rId6"/>
                <a:stretch>
                  <a:fillRect l="-5048" r="-1442" b="-3593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箭头: 右 31">
            <a:extLst>
              <a:ext uri="{FF2B5EF4-FFF2-40B4-BE49-F238E27FC236}">
                <a16:creationId xmlns:a16="http://schemas.microsoft.com/office/drawing/2014/main" id="{08B4CB9B-D3AC-2839-C00B-FE2C823ADB2F}"/>
              </a:ext>
            </a:extLst>
          </p:cNvPr>
          <p:cNvSpPr/>
          <p:nvPr/>
        </p:nvSpPr>
        <p:spPr>
          <a:xfrm>
            <a:off x="3002099" y="2565918"/>
            <a:ext cx="1500026" cy="33590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B272C93D-D50B-2F2D-E579-37EA9372E82A}"/>
              </a:ext>
            </a:extLst>
          </p:cNvPr>
          <p:cNvSpPr/>
          <p:nvPr/>
        </p:nvSpPr>
        <p:spPr>
          <a:xfrm>
            <a:off x="7308825" y="2565918"/>
            <a:ext cx="1500026" cy="33590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下 34">
            <a:extLst>
              <a:ext uri="{FF2B5EF4-FFF2-40B4-BE49-F238E27FC236}">
                <a16:creationId xmlns:a16="http://schemas.microsoft.com/office/drawing/2014/main" id="{0338FD72-578D-CA5A-9F23-E640C24BE20C}"/>
              </a:ext>
            </a:extLst>
          </p:cNvPr>
          <p:cNvSpPr/>
          <p:nvPr/>
        </p:nvSpPr>
        <p:spPr>
          <a:xfrm>
            <a:off x="10129214" y="3365500"/>
            <a:ext cx="362962" cy="108912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左 35">
            <a:extLst>
              <a:ext uri="{FF2B5EF4-FFF2-40B4-BE49-F238E27FC236}">
                <a16:creationId xmlns:a16="http://schemas.microsoft.com/office/drawing/2014/main" id="{8110EACF-BA30-C4B8-76FF-9324E2FEDA31}"/>
              </a:ext>
            </a:extLst>
          </p:cNvPr>
          <p:cNvSpPr/>
          <p:nvPr/>
        </p:nvSpPr>
        <p:spPr>
          <a:xfrm>
            <a:off x="7308825" y="4851788"/>
            <a:ext cx="1500026" cy="335902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左 36">
            <a:extLst>
              <a:ext uri="{FF2B5EF4-FFF2-40B4-BE49-F238E27FC236}">
                <a16:creationId xmlns:a16="http://schemas.microsoft.com/office/drawing/2014/main" id="{1CCE87B6-6793-8042-A845-3E9867F57969}"/>
              </a:ext>
            </a:extLst>
          </p:cNvPr>
          <p:cNvSpPr/>
          <p:nvPr/>
        </p:nvSpPr>
        <p:spPr>
          <a:xfrm>
            <a:off x="2963999" y="4851788"/>
            <a:ext cx="1500026" cy="335902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A7393E8-35AE-74BB-413E-347572E98CF8}"/>
              </a:ext>
            </a:extLst>
          </p:cNvPr>
          <p:cNvSpPr txBox="1"/>
          <p:nvPr/>
        </p:nvSpPr>
        <p:spPr>
          <a:xfrm>
            <a:off x="5158" y="845351"/>
            <a:ext cx="6097554" cy="63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方法总结：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399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D6F2A-A641-F23D-911F-5AB01A3D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09A9DC4-910C-31B3-5A38-A694B2573E0A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B34B14-C2C1-05D5-4A1D-E6AF90DBC342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7725DD-79D5-C37E-5D72-CFD28111062F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783B5-1C8B-1063-15C6-C8A936AA2DD7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5B9976-E4ED-EC69-C801-258D239E6253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F00148-3A73-EA1D-21B1-F30BC53E8AE6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482DFF-65C5-76F2-89E7-E49D0A9170F4}"/>
              </a:ext>
            </a:extLst>
          </p:cNvPr>
          <p:cNvSpPr txBox="1"/>
          <p:nvPr/>
        </p:nvSpPr>
        <p:spPr>
          <a:xfrm>
            <a:off x="5419" y="702329"/>
            <a:ext cx="5276807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有无电机延迟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C98BDE-28D4-BC11-DFE9-522BA60C42F6}"/>
              </a:ext>
            </a:extLst>
          </p:cNvPr>
          <p:cNvSpPr txBox="1"/>
          <p:nvPr/>
        </p:nvSpPr>
        <p:spPr>
          <a:xfrm>
            <a:off x="7192851" y="1951149"/>
            <a:ext cx="36962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u="none" strike="noStrike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若直接使用指令转速的平方与加速度进行拟合，采集到的数据点</a:t>
            </a:r>
            <a:r>
              <a:rPr lang="zh-CN" altLang="en-US" sz="18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线性性很低</a:t>
            </a:r>
            <a:r>
              <a:rPr lang="en-US" altLang="zh-CN" sz="18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  <a:p>
            <a:endParaRPr lang="en-US" altLang="zh-CN" sz="1800" b="0" i="0" u="none" strike="noStrike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500000000000000" charset="-122"/>
              <a:sym typeface="Noto Sans SC" panose="020B0500000000000000" charset="-122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采用递推得到的实际电机转速进行拟合后，数据点分布紧密贴合理论直线，呈现出极强的线性相关性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F4C65D2C-9993-77C1-DA81-6CF89694D59B}"/>
              </a:ext>
            </a:extLst>
          </p:cNvPr>
          <p:cNvSpPr/>
          <p:nvPr/>
        </p:nvSpPr>
        <p:spPr>
          <a:xfrm>
            <a:off x="359228" y="506858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00409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C72CD995-3C9E-4C37-ACC7-A0792EDDEB3E}"/>
              </a:ext>
            </a:extLst>
          </p:cNvPr>
          <p:cNvSpPr/>
          <p:nvPr/>
        </p:nvSpPr>
        <p:spPr>
          <a:xfrm>
            <a:off x="359228" y="5068580"/>
            <a:ext cx="76200" cy="12065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6E3FAC5F-5441-7969-AFCD-03559C81A056}"/>
              </a:ext>
            </a:extLst>
          </p:cNvPr>
          <p:cNvSpPr/>
          <p:nvPr/>
        </p:nvSpPr>
        <p:spPr>
          <a:xfrm>
            <a:off x="613228" y="517018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关键结论：</a:t>
            </a:r>
            <a:r>
              <a:rPr lang="en-US" sz="1600" b="0" i="0" u="none" strike="noStrike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电机延迟是影响推力辨识精度的核心因素，忽略它会严重扭曲推力曲线的真实形态，导致辨识彻底失败。本文方法通过对电机动态过程的精确建模与实际转速的递推求解，成功还原了推力与转速的真实线性关系，解决了传统方法中数据拟合失效的问题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6F91C1E-9B2C-92E2-BC78-7A988F636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16" y="1752850"/>
            <a:ext cx="6824352" cy="27631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9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ECDD9-E292-C645-57CC-FBE6AB8B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BF5EFDF-E69E-8166-1F17-15B6D30326AC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656A37-C45E-9D0A-11E2-376C58490BF4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F4E296-6667-32B1-070B-C739EB426BFB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5A6981-ADC5-1AEE-3C91-B80DCB7875AD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92D380-EF2C-556A-6018-20494661A685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70B625-282C-333A-808F-36F4563D9851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0DAFB9A-6B93-C67F-C14A-5A36FD7B3A78}"/>
              </a:ext>
            </a:extLst>
          </p:cNvPr>
          <p:cNvSpPr txBox="1"/>
          <p:nvPr/>
        </p:nvSpPr>
        <p:spPr>
          <a:xfrm>
            <a:off x="-42854" y="659200"/>
            <a:ext cx="6111550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2400" b="1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Crazyflie</a:t>
            </a:r>
            <a:r>
              <a:rPr lang="en-US" altLang="zh-CN" sz="2400" b="1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 2.1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zh-CN" altLang="en-US" sz="2400" b="1" dirty="0">
              <a:solidFill>
                <a:srgbClr val="0047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6" name="Picture 5">
            <a:extLst>
              <a:ext uri="{FF2B5EF4-FFF2-40B4-BE49-F238E27FC236}">
                <a16:creationId xmlns:a16="http://schemas.microsoft.com/office/drawing/2014/main" id="{0223EFD0-A30D-D99F-9DBC-5E8618AB7E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51646" y="2310568"/>
            <a:ext cx="2236864" cy="223686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6">
            <a:extLst>
              <a:ext uri="{FF2B5EF4-FFF2-40B4-BE49-F238E27FC236}">
                <a16:creationId xmlns:a16="http://schemas.microsoft.com/office/drawing/2014/main" id="{7E2DA2B7-DF85-024D-D76B-E4AE05EE2DFC}"/>
              </a:ext>
            </a:extLst>
          </p:cNvPr>
          <p:cNvSpPr/>
          <p:nvPr/>
        </p:nvSpPr>
        <p:spPr>
          <a:xfrm>
            <a:off x="5487642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2E0A6692-B6DF-BE47-E17F-849FB1C81E07}"/>
              </a:ext>
            </a:extLst>
          </p:cNvPr>
          <p:cNvSpPr/>
          <p:nvPr/>
        </p:nvSpPr>
        <p:spPr>
          <a:xfrm>
            <a:off x="5242560" y="2632010"/>
            <a:ext cx="2794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属性</a:t>
            </a:r>
            <a:r>
              <a:rPr lang="en-US" sz="1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：</a:t>
            </a:r>
            <a:r>
              <a:rPr lang="en-US" sz="14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约 27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克，是一款开源、微型且极其灵活的四旋翼飞行器</a:t>
            </a:r>
            <a:r>
              <a:rPr lang="en-US" sz="14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  <a:p>
            <a:pPr marL="0" indent="0" algn="l">
              <a:lnSpc>
                <a:spcPct val="117000"/>
              </a:lnSpc>
              <a:defRPr/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实验数据：</a:t>
            </a:r>
            <a:r>
              <a:rPr lang="en-US" sz="14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完成3次独立飞行实验，单次时长约20秒，累计飞行数据时长约1分钟。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545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EEB6-633D-38EA-CF51-B48336DA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D0BFCCB-5EC9-9E9B-6F0E-FD2D96048710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9382FC-3353-D7A4-20B6-FC46BC40A73E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B983F6-5A76-DD82-6599-92F130B5D14D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1B4A02-5DF8-A73A-83A7-39C9F7FB4183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2C3CE9-1876-5E45-9652-FAD5793DC35D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3D767D-2725-D9A0-447C-486E60A2601C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D4BE61-21CB-6375-731E-51AE267594FF}"/>
              </a:ext>
            </a:extLst>
          </p:cNvPr>
          <p:cNvSpPr txBox="1"/>
          <p:nvPr/>
        </p:nvSpPr>
        <p:spPr>
          <a:xfrm>
            <a:off x="-42854" y="659200"/>
            <a:ext cx="6111550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2400" b="1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Crazyflie</a:t>
            </a:r>
            <a:r>
              <a:rPr lang="en-US" altLang="zh-CN" sz="2400" b="1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 2.1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zh-CN" altLang="en-US" sz="2400" b="1" dirty="0">
              <a:solidFill>
                <a:srgbClr val="0047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600DAF-432B-E52B-A8F6-F8B8C1D0C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6" y="1129777"/>
            <a:ext cx="5025401" cy="21853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1086121-D313-8042-A6A6-6A9676EC2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615" y="994592"/>
            <a:ext cx="2905628" cy="24283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07C69FE-68B0-2B3A-E316-99350FA852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01" y="3527679"/>
            <a:ext cx="7992771" cy="3330321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1A1B8A4-9417-9691-3D3D-0894F8263DAD}"/>
              </a:ext>
            </a:extLst>
          </p:cNvPr>
          <p:cNvCxnSpPr>
            <a:cxnSpLocks/>
          </p:cNvCxnSpPr>
          <p:nvPr/>
        </p:nvCxnSpPr>
        <p:spPr>
          <a:xfrm>
            <a:off x="0" y="3527679"/>
            <a:ext cx="1219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52257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57AF-EBEB-923F-7888-A264C3570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D24AF23-40DF-42BA-CE9B-9EB81AEB3B2F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D3C327-39B2-1702-A5E9-BCAF581FBD00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4E1BB1-F61C-2668-2997-94F91B66372D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0DF823-3109-EA50-8655-FBD37D106D2D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5F0CC2-00E0-C7B8-D64E-26523AEB362A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96FEA9-7A1B-E181-93AF-1FE0F92EB9D3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B61B8C-8348-C2D3-C368-941AA866F197}"/>
              </a:ext>
            </a:extLst>
          </p:cNvPr>
          <p:cNvSpPr txBox="1"/>
          <p:nvPr/>
        </p:nvSpPr>
        <p:spPr>
          <a:xfrm>
            <a:off x="-42854" y="659200"/>
            <a:ext cx="6111550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2400" b="1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Crazyflie</a:t>
            </a:r>
            <a:r>
              <a:rPr lang="en-US" altLang="zh-CN" sz="2400" b="1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 2.1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zh-CN" altLang="en-US" sz="2400" b="1" dirty="0">
              <a:solidFill>
                <a:srgbClr val="0047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75F8D9-042C-7031-E131-961B9329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4479"/>
            <a:ext cx="9429450" cy="27925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292C741-F5F7-AABF-FD5B-D43B1A615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3421"/>
            <a:ext cx="9073737" cy="3024579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7529FB-4B2D-4C9A-DA12-465AA54764C7}"/>
              </a:ext>
            </a:extLst>
          </p:cNvPr>
          <p:cNvCxnSpPr>
            <a:cxnSpLocks/>
          </p:cNvCxnSpPr>
          <p:nvPr/>
        </p:nvCxnSpPr>
        <p:spPr>
          <a:xfrm>
            <a:off x="635" y="3833421"/>
            <a:ext cx="1219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12739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692E-34D5-6A4A-C37F-1D1297B1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7F8A977-6058-FBF3-FC16-20252513F57C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387CF4-4AC1-EA31-D200-8FD3A1A63D4B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C6A279-EDCB-10E9-F555-59DB93391C10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FF7C12-5396-D484-EE03-79C84BB707C6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CE517C-793D-5CB8-6991-3C6EBBA2608D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8561E0-B9FC-315F-709D-57752044315D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9B2212-7A85-EE70-6C3B-A14DBEC6C8EC}"/>
              </a:ext>
            </a:extLst>
          </p:cNvPr>
          <p:cNvSpPr txBox="1"/>
          <p:nvPr/>
        </p:nvSpPr>
        <p:spPr>
          <a:xfrm>
            <a:off x="-42854" y="659200"/>
            <a:ext cx="611155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实验二：</a:t>
            </a:r>
            <a:r>
              <a:rPr lang="en-US" altLang="zh-CN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Large quadrotor </a:t>
            </a:r>
            <a:endParaRPr lang="zh-CN" altLang="en-US" sz="2400" b="1" dirty="0">
              <a:solidFill>
                <a:srgbClr val="0047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AutoShape 6">
            <a:extLst>
              <a:ext uri="{FF2B5EF4-FFF2-40B4-BE49-F238E27FC236}">
                <a16:creationId xmlns:a16="http://schemas.microsoft.com/office/drawing/2014/main" id="{BA2B3374-B27B-94B1-C087-DF6BE5D8ED98}"/>
              </a:ext>
            </a:extLst>
          </p:cNvPr>
          <p:cNvSpPr/>
          <p:nvPr/>
        </p:nvSpPr>
        <p:spPr>
          <a:xfrm>
            <a:off x="5487642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BCA8F2DE-989B-70C2-B11A-619CF55A4CE8}"/>
              </a:ext>
            </a:extLst>
          </p:cNvPr>
          <p:cNvSpPr/>
          <p:nvPr/>
        </p:nvSpPr>
        <p:spPr>
          <a:xfrm>
            <a:off x="5242560" y="2632010"/>
            <a:ext cx="2794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en-US" altLang="zh-CN" sz="14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重量：</a:t>
            </a:r>
            <a:r>
              <a:rPr lang="en-US" altLang="zh-CN" sz="1400" dirty="0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约</a:t>
            </a:r>
            <a:r>
              <a:rPr lang="en-US" altLang="zh-CN" sz="14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 3.35 </a:t>
            </a:r>
            <a:r>
              <a:rPr lang="en-US" altLang="zh-CN" sz="1400" dirty="0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千克，具备更强的负载能力，飞行特性更贴近真实工业应用场景</a:t>
            </a:r>
            <a:r>
              <a:rPr lang="en-US" altLang="zh-CN" sz="14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  <a:p>
            <a:pPr>
              <a:lnSpc>
                <a:spcPct val="117000"/>
              </a:lnSpc>
              <a:defRPr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7000"/>
              </a:lnSpc>
            </a:pPr>
            <a:r>
              <a:rPr lang="en-US" altLang="zh-CN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实验数据：</a:t>
            </a:r>
            <a:r>
              <a:rPr lang="en-US" altLang="zh-CN" sz="14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在同等实验方案下完成3次飞行，累计数据采集时长同样为1分钟。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9FAC7D23-316F-D68D-A52A-B569DBDBD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50" r="18750"/>
          <a:stretch>
            <a:fillRect/>
          </a:stretch>
        </p:blipFill>
        <p:spPr>
          <a:xfrm>
            <a:off x="3061428" y="2536760"/>
            <a:ext cx="1905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8182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C85ED-EF72-2432-5276-B3BF05CB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C9E8500-DB49-A395-D3F6-0BA5723BB5FE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87BC88-736F-C09A-7F29-E0089934DE80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F353EB-59ED-5FCF-4CE3-1E899890F44A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AF4F49-D321-6200-2B77-6C24DB9ACB68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84D0C1-7950-6AD0-E424-9FC90A638EF0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324188-784F-1F40-B63F-CD5E48D661CB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02B176-0089-CECD-AEEA-AB6BD62719D8}"/>
              </a:ext>
            </a:extLst>
          </p:cNvPr>
          <p:cNvSpPr txBox="1"/>
          <p:nvPr/>
        </p:nvSpPr>
        <p:spPr>
          <a:xfrm>
            <a:off x="-42854" y="659200"/>
            <a:ext cx="611155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实验二：</a:t>
            </a:r>
            <a:r>
              <a:rPr lang="en-US" altLang="zh-CN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Large quadrotor </a:t>
            </a:r>
            <a:endParaRPr lang="zh-CN" altLang="en-US" sz="2400" b="1" dirty="0">
              <a:solidFill>
                <a:srgbClr val="0047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AutoShape 6">
            <a:extLst>
              <a:ext uri="{FF2B5EF4-FFF2-40B4-BE49-F238E27FC236}">
                <a16:creationId xmlns:a16="http://schemas.microsoft.com/office/drawing/2014/main" id="{CD6A5780-AC0C-A07E-837E-EF5A9DE723F6}"/>
              </a:ext>
            </a:extLst>
          </p:cNvPr>
          <p:cNvSpPr/>
          <p:nvPr/>
        </p:nvSpPr>
        <p:spPr>
          <a:xfrm>
            <a:off x="5487642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1F7352-52D0-AECF-3EDC-6CF498AAF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7157"/>
            <a:ext cx="5487642" cy="2170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804588-99B8-7166-5110-62DE2F04F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203" y="1062905"/>
            <a:ext cx="2874040" cy="23295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87B401D-EBEB-AA92-C942-7E5552CE19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97" y="3500408"/>
            <a:ext cx="8021645" cy="3342352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FEBE52F-3F84-93AF-EFB4-F2A44EE18FCE}"/>
              </a:ext>
            </a:extLst>
          </p:cNvPr>
          <p:cNvCxnSpPr>
            <a:cxnSpLocks/>
          </p:cNvCxnSpPr>
          <p:nvPr/>
        </p:nvCxnSpPr>
        <p:spPr>
          <a:xfrm>
            <a:off x="635" y="3500408"/>
            <a:ext cx="1219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44979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542A-B802-80C9-EBF2-86CE74C7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C5496A-43BE-70D9-0FFD-5BA120C996D3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1F533A-BDD4-B49E-B60C-3954B6095C2F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B9EA9B-7B55-DC8F-C8BF-89867B9D3512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F508FD-876A-ADEA-0D98-7C3538E52A21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121D00-1633-EBEA-06D1-143CF5E7D4E7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2F7B5D-05D4-C89D-B59A-400D6FA0F3FE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57FE4A-C0C2-9804-FD8C-D7C273B476A0}"/>
              </a:ext>
            </a:extLst>
          </p:cNvPr>
          <p:cNvSpPr txBox="1"/>
          <p:nvPr/>
        </p:nvSpPr>
        <p:spPr>
          <a:xfrm>
            <a:off x="-42854" y="659200"/>
            <a:ext cx="611155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实验二：</a:t>
            </a:r>
            <a:r>
              <a:rPr lang="en-US" altLang="zh-CN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Large quadrotor </a:t>
            </a:r>
            <a:endParaRPr lang="zh-CN" altLang="en-US" sz="2400" b="1" dirty="0">
              <a:solidFill>
                <a:srgbClr val="0047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AutoShape 6">
            <a:extLst>
              <a:ext uri="{FF2B5EF4-FFF2-40B4-BE49-F238E27FC236}">
                <a16:creationId xmlns:a16="http://schemas.microsoft.com/office/drawing/2014/main" id="{C634A452-4B19-6278-D974-7E9CE827D388}"/>
              </a:ext>
            </a:extLst>
          </p:cNvPr>
          <p:cNvSpPr/>
          <p:nvPr/>
        </p:nvSpPr>
        <p:spPr>
          <a:xfrm>
            <a:off x="5487642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5278D9-0E33-7796-F4EB-B2ACC7944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7" y="1129266"/>
            <a:ext cx="8866233" cy="27567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DE45A6-11B8-A442-5BEB-35D8C4A93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04" y="3829743"/>
            <a:ext cx="9084771" cy="3028257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2D3848-BD5A-23D4-6EA7-0E1E14E40AC0}"/>
              </a:ext>
            </a:extLst>
          </p:cNvPr>
          <p:cNvCxnSpPr>
            <a:cxnSpLocks/>
          </p:cNvCxnSpPr>
          <p:nvPr/>
        </p:nvCxnSpPr>
        <p:spPr>
          <a:xfrm>
            <a:off x="-42854" y="3829743"/>
            <a:ext cx="1219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97036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1E76-4200-D567-1217-2FF96B53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6AAB06-6F4E-CFE6-DB88-AB33F48A0793}"/>
              </a:ext>
            </a:extLst>
          </p:cNvPr>
          <p:cNvSpPr/>
          <p:nvPr/>
        </p:nvSpPr>
        <p:spPr>
          <a:xfrm>
            <a:off x="0" y="0"/>
            <a:ext cx="12191365" cy="60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DB80C9-0768-6EBF-9D7B-F3908503EB95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FCE4C4-15F6-EE66-DDBE-647988CF171A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EEE1B2-758E-FD01-B137-B836A5A88DDF}"/>
              </a:ext>
            </a:extLst>
          </p:cNvPr>
          <p:cNvSpPr/>
          <p:nvPr/>
        </p:nvSpPr>
        <p:spPr>
          <a:xfrm>
            <a:off x="6123305" y="15240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1488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6E228B-AE23-5FA3-7602-D5BE32A3C582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/>
                <a:ea typeface="微软雅黑"/>
              </a:rPr>
              <a:t>仿真复现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6E5869-D04C-55B5-95E6-4A8C6167E08E}"/>
              </a:ext>
            </a:extLst>
          </p:cNvPr>
          <p:cNvSpPr txBox="1"/>
          <p:nvPr/>
        </p:nvSpPr>
        <p:spPr>
          <a:xfrm>
            <a:off x="10012679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CBEB53-A2C9-1D3E-06D9-FDA827CB3A9C}"/>
              </a:ext>
            </a:extLst>
          </p:cNvPr>
          <p:cNvSpPr txBox="1"/>
          <p:nvPr/>
        </p:nvSpPr>
        <p:spPr>
          <a:xfrm>
            <a:off x="5419" y="702329"/>
            <a:ext cx="5276807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现实部署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264FE9-931D-F7F2-C419-ABD5BC32E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1" y="1200286"/>
            <a:ext cx="4889629" cy="27504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847901-846E-A516-BA4C-789DCF71B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87" y="1200287"/>
            <a:ext cx="4805480" cy="270308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052532D-538C-8B03-E519-7E594AD5B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05" y="4448659"/>
            <a:ext cx="3701205" cy="219901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49242CF3-CF55-7164-2C2C-17841E24A96E}"/>
              </a:ext>
            </a:extLst>
          </p:cNvPr>
          <p:cNvSpPr txBox="1"/>
          <p:nvPr/>
        </p:nvSpPr>
        <p:spPr>
          <a:xfrm>
            <a:off x="425807" y="3904535"/>
            <a:ext cx="467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在仿真器中训练端到端强化学习策略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A5760C-B168-2ED4-47C3-0905455EAC20}"/>
              </a:ext>
            </a:extLst>
          </p:cNvPr>
          <p:cNvSpPr txBox="1"/>
          <p:nvPr/>
        </p:nvSpPr>
        <p:spPr>
          <a:xfrm>
            <a:off x="6459483" y="3950702"/>
            <a:ext cx="446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将训练好的策略直接部署到真实无人机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EB9920-5E76-2DFB-0E01-992D7BC09C03}"/>
              </a:ext>
            </a:extLst>
          </p:cNvPr>
          <p:cNvSpPr txBox="1"/>
          <p:nvPr/>
        </p:nvSpPr>
        <p:spPr>
          <a:xfrm>
            <a:off x="4914900" y="4872034"/>
            <a:ext cx="6138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 风速高达 </a:t>
            </a:r>
            <a:r>
              <a:rPr lang="en-US" altLang="zh-CN" sz="1800" b="1" dirty="0"/>
              <a:t>8 m/s</a:t>
            </a:r>
            <a:r>
              <a:rPr lang="zh-CN" altLang="en-US" sz="1800" dirty="0"/>
              <a:t>（相当于 </a:t>
            </a:r>
            <a:r>
              <a:rPr lang="en-US" altLang="zh-CN" sz="1800" dirty="0"/>
              <a:t>5 </a:t>
            </a:r>
            <a:r>
              <a:rPr lang="zh-CN" altLang="en-US" sz="1800" dirty="0"/>
              <a:t>级风）</a:t>
            </a:r>
          </a:p>
          <a:p>
            <a:r>
              <a:rPr lang="zh-CN" altLang="en-US" sz="1800" dirty="0"/>
              <a:t> 飞行速度达到 </a:t>
            </a:r>
            <a:r>
              <a:rPr lang="en-US" altLang="zh-CN" sz="1800" b="1" dirty="0"/>
              <a:t>5 m/s</a:t>
            </a:r>
            <a:endParaRPr lang="zh-CN" altLang="en-US" sz="1800" dirty="0"/>
          </a:p>
          <a:p>
            <a:r>
              <a:rPr lang="zh-CN" altLang="en-US" sz="1800" dirty="0"/>
              <a:t> 无人机成功跟踪预设轨迹，没有出现发散或严重振荡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6844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30D1F-FF65-AC40-5068-8EEFAF6B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7CE15D3-3743-8088-8162-BE15B0A2876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28894" y="-1459841"/>
            <a:ext cx="21313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5A955E-6ACC-37B1-F8CB-E594E6796BB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387979" y="255116"/>
            <a:ext cx="3134391" cy="15046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874E53-0F6E-3A2E-B31D-4A276B617913}"/>
              </a:ext>
            </a:extLst>
          </p:cNvPr>
          <p:cNvSpPr/>
          <p:nvPr/>
        </p:nvSpPr>
        <p:spPr>
          <a:xfrm>
            <a:off x="0" y="0"/>
            <a:ext cx="12191365" cy="6089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32C826-B8E9-872B-67EB-B79A80F385D0}"/>
              </a:ext>
            </a:extLst>
          </p:cNvPr>
          <p:cNvSpPr/>
          <p:nvPr/>
        </p:nvSpPr>
        <p:spPr>
          <a:xfrm>
            <a:off x="9142095" y="8572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4AD504-57A0-E365-C200-D1842520330B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仿真复现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6C1245-16A7-6F8E-5140-1ACB4277EEF3}"/>
              </a:ext>
            </a:extLst>
          </p:cNvPr>
          <p:cNvSpPr txBox="1"/>
          <p:nvPr/>
        </p:nvSpPr>
        <p:spPr>
          <a:xfrm>
            <a:off x="9900411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总结与展望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D6FDE6-F84C-CCC7-0B8F-546BBF0AC0D1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B52A03-38C7-727F-9136-04396A7285B3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81292561-03E9-A7E7-6BA6-4F8D11031ADF}"/>
              </a:ext>
            </a:extLst>
          </p:cNvPr>
          <p:cNvSpPr/>
          <p:nvPr/>
        </p:nvSpPr>
        <p:spPr>
          <a:xfrm>
            <a:off x="714248" y="159956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38E36CB8-3415-FEC4-C062-C9019B66A6E6}"/>
              </a:ext>
            </a:extLst>
          </p:cNvPr>
          <p:cNvSpPr/>
          <p:nvPr/>
        </p:nvSpPr>
        <p:spPr>
          <a:xfrm>
            <a:off x="714248" y="1599569"/>
            <a:ext cx="3429000" cy="508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272C1868-F8DB-1D76-6143-A3D772AC6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748" y="1790069"/>
            <a:ext cx="304800" cy="304800"/>
          </a:xfrm>
          <a:prstGeom prst="rect">
            <a:avLst/>
          </a:prstGeom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2DE6B47B-DAE6-454A-A031-98F70009563A}"/>
              </a:ext>
            </a:extLst>
          </p:cNvPr>
          <p:cNvSpPr/>
          <p:nvPr/>
        </p:nvSpPr>
        <p:spPr>
          <a:xfrm>
            <a:off x="1349248" y="1751969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所需设备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Connector 9">
            <a:extLst>
              <a:ext uri="{FF2B5EF4-FFF2-40B4-BE49-F238E27FC236}">
                <a16:creationId xmlns:a16="http://schemas.microsoft.com/office/drawing/2014/main" id="{ECB82172-0EB0-43F0-9DB6-73396654AE95}"/>
              </a:ext>
            </a:extLst>
          </p:cNvPr>
          <p:cNvCxnSpPr/>
          <p:nvPr/>
        </p:nvCxnSpPr>
        <p:spPr>
          <a:xfrm rot="-14323">
            <a:off x="904761" y="2291719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0">
            <a:extLst>
              <a:ext uri="{FF2B5EF4-FFF2-40B4-BE49-F238E27FC236}">
                <a16:creationId xmlns:a16="http://schemas.microsoft.com/office/drawing/2014/main" id="{00ACCF6C-FD84-CA65-5624-BB9A27E8C998}"/>
              </a:ext>
            </a:extLst>
          </p:cNvPr>
          <p:cNvSpPr/>
          <p:nvPr/>
        </p:nvSpPr>
        <p:spPr>
          <a:xfrm>
            <a:off x="904748" y="2425069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传统依赖推力台、动捕系统等昂贵专业设备；本文方法</a:t>
            </a:r>
            <a:r>
              <a:rPr lang="en-US" sz="14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无需额外设备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，仅利用无人机飞行日志即可完成参数辨识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EADDAEFD-82C7-1B82-33F0-29AFAD1D96F4}"/>
              </a:ext>
            </a:extLst>
          </p:cNvPr>
          <p:cNvSpPr/>
          <p:nvPr/>
        </p:nvSpPr>
        <p:spPr>
          <a:xfrm>
            <a:off x="4333748" y="159956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B4B081A2-2902-FB32-1C4F-0143D9D907E2}"/>
              </a:ext>
            </a:extLst>
          </p:cNvPr>
          <p:cNvSpPr/>
          <p:nvPr/>
        </p:nvSpPr>
        <p:spPr>
          <a:xfrm>
            <a:off x="4333748" y="1599569"/>
            <a:ext cx="3429000" cy="508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C05F8A15-5F82-8CBE-4DAC-15E46E674A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4248" y="1790069"/>
            <a:ext cx="304800" cy="304800"/>
          </a:xfrm>
          <a:prstGeom prst="rect">
            <a:avLst/>
          </a:prstGeom>
        </p:spPr>
      </p:pic>
      <p:sp>
        <p:nvSpPr>
          <p:cNvPr id="24" name="AutoShape 14">
            <a:extLst>
              <a:ext uri="{FF2B5EF4-FFF2-40B4-BE49-F238E27FC236}">
                <a16:creationId xmlns:a16="http://schemas.microsoft.com/office/drawing/2014/main" id="{AFBF2F9D-A508-A4EC-E5E3-7ECAF39E18BE}"/>
              </a:ext>
            </a:extLst>
          </p:cNvPr>
          <p:cNvSpPr/>
          <p:nvPr/>
        </p:nvSpPr>
        <p:spPr>
          <a:xfrm>
            <a:off x="4968748" y="1751969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数据采集效率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Connector 15">
            <a:extLst>
              <a:ext uri="{FF2B5EF4-FFF2-40B4-BE49-F238E27FC236}">
                <a16:creationId xmlns:a16="http://schemas.microsoft.com/office/drawing/2014/main" id="{0525B63C-B0AF-9CCB-CA55-0C60B9A02E59}"/>
              </a:ext>
            </a:extLst>
          </p:cNvPr>
          <p:cNvCxnSpPr/>
          <p:nvPr/>
        </p:nvCxnSpPr>
        <p:spPr>
          <a:xfrm rot="-14323">
            <a:off x="4524261" y="2291719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16">
            <a:extLst>
              <a:ext uri="{FF2B5EF4-FFF2-40B4-BE49-F238E27FC236}">
                <a16:creationId xmlns:a16="http://schemas.microsoft.com/office/drawing/2014/main" id="{D7C19E91-BEA3-A709-EFFC-3EDA0F19FB80}"/>
              </a:ext>
            </a:extLst>
          </p:cNvPr>
          <p:cNvSpPr/>
          <p:nvPr/>
        </p:nvSpPr>
        <p:spPr>
          <a:xfrm>
            <a:off x="4524248" y="2425069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传统需数小时特定实验数据；本文仅需</a:t>
            </a:r>
            <a:r>
              <a:rPr lang="en-US" sz="14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约1分钟飞行数据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，包含3个简单动作即可完成，极大降低采集成本。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AE5E3C55-E0AB-9FE0-CC5B-84261010E9A2}"/>
              </a:ext>
            </a:extLst>
          </p:cNvPr>
          <p:cNvSpPr/>
          <p:nvPr/>
        </p:nvSpPr>
        <p:spPr>
          <a:xfrm>
            <a:off x="7953248" y="159956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18">
            <a:extLst>
              <a:ext uri="{FF2B5EF4-FFF2-40B4-BE49-F238E27FC236}">
                <a16:creationId xmlns:a16="http://schemas.microsoft.com/office/drawing/2014/main" id="{504764A9-9F49-6271-5EF8-FBDF1EA77A41}"/>
              </a:ext>
            </a:extLst>
          </p:cNvPr>
          <p:cNvSpPr/>
          <p:nvPr/>
        </p:nvSpPr>
        <p:spPr>
          <a:xfrm>
            <a:off x="7953248" y="1599569"/>
            <a:ext cx="3429000" cy="508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Picture 19">
            <a:extLst>
              <a:ext uri="{FF2B5EF4-FFF2-40B4-BE49-F238E27FC236}">
                <a16:creationId xmlns:a16="http://schemas.microsoft.com/office/drawing/2014/main" id="{5E0DE0D8-27AE-0AA2-7539-A74666EAEC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3748" y="1790069"/>
            <a:ext cx="304800" cy="304800"/>
          </a:xfrm>
          <a:prstGeom prst="rect">
            <a:avLst/>
          </a:prstGeom>
        </p:spPr>
      </p:pic>
      <p:sp>
        <p:nvSpPr>
          <p:cNvPr id="30" name="AutoShape 20">
            <a:extLst>
              <a:ext uri="{FF2B5EF4-FFF2-40B4-BE49-F238E27FC236}">
                <a16:creationId xmlns:a16="http://schemas.microsoft.com/office/drawing/2014/main" id="{A1F11186-F799-20B9-1F6C-64C1F90671FA}"/>
              </a:ext>
            </a:extLst>
          </p:cNvPr>
          <p:cNvSpPr/>
          <p:nvPr/>
        </p:nvSpPr>
        <p:spPr>
          <a:xfrm>
            <a:off x="8588248" y="1751969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电机延迟处理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Connector 21">
            <a:extLst>
              <a:ext uri="{FF2B5EF4-FFF2-40B4-BE49-F238E27FC236}">
                <a16:creationId xmlns:a16="http://schemas.microsoft.com/office/drawing/2014/main" id="{B443CB24-0AF0-F3C2-3307-91CD5C5F1439}"/>
              </a:ext>
            </a:extLst>
          </p:cNvPr>
          <p:cNvCxnSpPr/>
          <p:nvPr/>
        </p:nvCxnSpPr>
        <p:spPr>
          <a:xfrm rot="-14323">
            <a:off x="8143761" y="2291719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22">
            <a:extLst>
              <a:ext uri="{FF2B5EF4-FFF2-40B4-BE49-F238E27FC236}">
                <a16:creationId xmlns:a16="http://schemas.microsoft.com/office/drawing/2014/main" id="{F676F4F2-B8DA-C731-C0E3-27735FCA57D8}"/>
              </a:ext>
            </a:extLst>
          </p:cNvPr>
          <p:cNvSpPr/>
          <p:nvPr/>
        </p:nvSpPr>
        <p:spPr>
          <a:xfrm>
            <a:off x="8143748" y="2425069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传统常忽略或需单独测量电机延迟；本文通过</a:t>
            </a:r>
            <a:r>
              <a:rPr lang="en-US" sz="14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MAP估计延迟参数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，提升了模型对动态过程的拟合精度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23">
            <a:extLst>
              <a:ext uri="{FF2B5EF4-FFF2-40B4-BE49-F238E27FC236}">
                <a16:creationId xmlns:a16="http://schemas.microsoft.com/office/drawing/2014/main" id="{42466FC8-708F-2EEA-F10F-DBF4339FE533}"/>
              </a:ext>
            </a:extLst>
          </p:cNvPr>
          <p:cNvSpPr/>
          <p:nvPr/>
        </p:nvSpPr>
        <p:spPr>
          <a:xfrm>
            <a:off x="714248" y="4012569"/>
            <a:ext cx="5232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24">
            <a:extLst>
              <a:ext uri="{FF2B5EF4-FFF2-40B4-BE49-F238E27FC236}">
                <a16:creationId xmlns:a16="http://schemas.microsoft.com/office/drawing/2014/main" id="{96305426-A0C0-2890-C76F-02D1888C6941}"/>
              </a:ext>
            </a:extLst>
          </p:cNvPr>
          <p:cNvSpPr/>
          <p:nvPr/>
        </p:nvSpPr>
        <p:spPr>
          <a:xfrm>
            <a:off x="714248" y="4012569"/>
            <a:ext cx="5232400" cy="508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25">
            <a:extLst>
              <a:ext uri="{FF2B5EF4-FFF2-40B4-BE49-F238E27FC236}">
                <a16:creationId xmlns:a16="http://schemas.microsoft.com/office/drawing/2014/main" id="{98AD7A68-3DCF-64CB-5CF2-A6A9DEA44F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748" y="4203069"/>
            <a:ext cx="304800" cy="304800"/>
          </a:xfrm>
          <a:prstGeom prst="rect">
            <a:avLst/>
          </a:prstGeom>
        </p:spPr>
      </p:pic>
      <p:sp>
        <p:nvSpPr>
          <p:cNvPr id="36" name="AutoShape 26">
            <a:extLst>
              <a:ext uri="{FF2B5EF4-FFF2-40B4-BE49-F238E27FC236}">
                <a16:creationId xmlns:a16="http://schemas.microsoft.com/office/drawing/2014/main" id="{DFA53A3B-DC34-4E60-AF7D-870E5C8D1AE3}"/>
              </a:ext>
            </a:extLst>
          </p:cNvPr>
          <p:cNvSpPr/>
          <p:nvPr/>
        </p:nvSpPr>
        <p:spPr>
          <a:xfrm>
            <a:off x="1349248" y="4164969"/>
            <a:ext cx="440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参数辨识完整性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Connector 27">
            <a:extLst>
              <a:ext uri="{FF2B5EF4-FFF2-40B4-BE49-F238E27FC236}">
                <a16:creationId xmlns:a16="http://schemas.microsoft.com/office/drawing/2014/main" id="{0752E3B0-824C-EECC-340B-D04A0554F676}"/>
              </a:ext>
            </a:extLst>
          </p:cNvPr>
          <p:cNvCxnSpPr/>
          <p:nvPr/>
        </p:nvCxnSpPr>
        <p:spPr>
          <a:xfrm rot="-8999">
            <a:off x="904756" y="4704719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28">
            <a:extLst>
              <a:ext uri="{FF2B5EF4-FFF2-40B4-BE49-F238E27FC236}">
                <a16:creationId xmlns:a16="http://schemas.microsoft.com/office/drawing/2014/main" id="{E60FB233-C331-3EA2-04C1-92BEB87CF507}"/>
              </a:ext>
            </a:extLst>
          </p:cNvPr>
          <p:cNvSpPr/>
          <p:nvPr/>
        </p:nvSpPr>
        <p:spPr>
          <a:xfrm>
            <a:off x="904748" y="4838069"/>
            <a:ext cx="485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传统方法通常仅辨识部分核心参数；本文实现了</a:t>
            </a:r>
            <a:r>
              <a:rPr lang="en-US" sz="14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完整参数集辨识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，涵盖机电时间常数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(Tₘ)、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扭矩系数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(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Kτ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)、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转动惯量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(J)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及完整的电机推力-转速曲线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29">
            <a:extLst>
              <a:ext uri="{FF2B5EF4-FFF2-40B4-BE49-F238E27FC236}">
                <a16:creationId xmlns:a16="http://schemas.microsoft.com/office/drawing/2014/main" id="{ABC84B17-ED44-9177-0EBB-AEC983BC313B}"/>
              </a:ext>
            </a:extLst>
          </p:cNvPr>
          <p:cNvSpPr/>
          <p:nvPr/>
        </p:nvSpPr>
        <p:spPr>
          <a:xfrm>
            <a:off x="6200648" y="4012569"/>
            <a:ext cx="5232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30">
            <a:extLst>
              <a:ext uri="{FF2B5EF4-FFF2-40B4-BE49-F238E27FC236}">
                <a16:creationId xmlns:a16="http://schemas.microsoft.com/office/drawing/2014/main" id="{7C63D3DE-C5AE-4165-0350-A5E3FFDD33E2}"/>
              </a:ext>
            </a:extLst>
          </p:cNvPr>
          <p:cNvSpPr/>
          <p:nvPr/>
        </p:nvSpPr>
        <p:spPr>
          <a:xfrm>
            <a:off x="6200648" y="4012569"/>
            <a:ext cx="5232400" cy="508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" name="Picture 31">
            <a:extLst>
              <a:ext uri="{FF2B5EF4-FFF2-40B4-BE49-F238E27FC236}">
                <a16:creationId xmlns:a16="http://schemas.microsoft.com/office/drawing/2014/main" id="{7618CFA8-9613-B20D-9D50-EEB1AD5F7F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1148" y="4203069"/>
            <a:ext cx="304800" cy="304800"/>
          </a:xfrm>
          <a:prstGeom prst="rect">
            <a:avLst/>
          </a:prstGeom>
        </p:spPr>
      </p:pic>
      <p:sp>
        <p:nvSpPr>
          <p:cNvPr id="42" name="AutoShape 32">
            <a:extLst>
              <a:ext uri="{FF2B5EF4-FFF2-40B4-BE49-F238E27FC236}">
                <a16:creationId xmlns:a16="http://schemas.microsoft.com/office/drawing/2014/main" id="{AD7BD57A-650E-22AE-9951-7962C333A94A}"/>
              </a:ext>
            </a:extLst>
          </p:cNvPr>
          <p:cNvSpPr/>
          <p:nvPr/>
        </p:nvSpPr>
        <p:spPr>
          <a:xfrm>
            <a:off x="6835648" y="4164969"/>
            <a:ext cx="440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开源可复现性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Connector 33">
            <a:extLst>
              <a:ext uri="{FF2B5EF4-FFF2-40B4-BE49-F238E27FC236}">
                <a16:creationId xmlns:a16="http://schemas.microsoft.com/office/drawing/2014/main" id="{E3068667-C8E3-C939-9459-1BF5FA3DA2A1}"/>
              </a:ext>
            </a:extLst>
          </p:cNvPr>
          <p:cNvCxnSpPr/>
          <p:nvPr/>
        </p:nvCxnSpPr>
        <p:spPr>
          <a:xfrm rot="-8999">
            <a:off x="6391156" y="4704719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" name="AutoShape 34">
            <a:extLst>
              <a:ext uri="{FF2B5EF4-FFF2-40B4-BE49-F238E27FC236}">
                <a16:creationId xmlns:a16="http://schemas.microsoft.com/office/drawing/2014/main" id="{08F7EC67-A62D-6449-364A-CD8EB8D4E003}"/>
              </a:ext>
            </a:extLst>
          </p:cNvPr>
          <p:cNvSpPr/>
          <p:nvPr/>
        </p:nvSpPr>
        <p:spPr>
          <a:xfrm>
            <a:off x="6391148" y="4838069"/>
            <a:ext cx="485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传统方法多未公开核心实现细节；本文所有核心代码</a:t>
            </a:r>
            <a:r>
              <a:rPr lang="en-US" sz="14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完全开源</a:t>
            </a:r>
            <a:r>
              <a:rPr lang="en-US" sz="1400" b="0" i="0" u="none" strike="noStrike" dirty="0" err="1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，实验流程与参数配置文档化，便于同行复现验证与后续研究改进</a:t>
            </a:r>
            <a:r>
              <a:rPr lang="en-US" sz="1400" b="0" i="0" u="none" strike="noStrike" dirty="0">
                <a:solidFill>
                  <a:srgbClr val="525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FD9FF34-9D95-06B9-1260-A3FA8F197C43}"/>
              </a:ext>
            </a:extLst>
          </p:cNvPr>
          <p:cNvSpPr txBox="1"/>
          <p:nvPr/>
        </p:nvSpPr>
        <p:spPr>
          <a:xfrm>
            <a:off x="92985" y="683940"/>
            <a:ext cx="6298162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020705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E747-57BC-903B-5637-D40F9B9F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9BF11AF-288A-F9FF-99C5-7091285E2EA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28894" y="-1459841"/>
            <a:ext cx="21313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0ACDCF-58EA-A5D4-458A-3D9C6C33982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387979" y="255116"/>
            <a:ext cx="3134391" cy="15046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41F769-F89F-FD1F-DE74-4F7622EE1C06}"/>
              </a:ext>
            </a:extLst>
          </p:cNvPr>
          <p:cNvSpPr/>
          <p:nvPr/>
        </p:nvSpPr>
        <p:spPr>
          <a:xfrm>
            <a:off x="0" y="0"/>
            <a:ext cx="12191365" cy="6089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53BF91-4A13-1460-AE9F-2D257F404CCA}"/>
              </a:ext>
            </a:extLst>
          </p:cNvPr>
          <p:cNvSpPr/>
          <p:nvPr/>
        </p:nvSpPr>
        <p:spPr>
          <a:xfrm>
            <a:off x="9142095" y="8572"/>
            <a:ext cx="3049270" cy="608330"/>
          </a:xfrm>
          <a:prstGeom prst="rect">
            <a:avLst/>
          </a:prstGeom>
          <a:solidFill>
            <a:srgbClr val="2148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F70530-643D-9491-94D8-2621B5B441D8}"/>
              </a:ext>
            </a:extLst>
          </p:cNvPr>
          <p:cNvSpPr txBox="1"/>
          <p:nvPr/>
        </p:nvSpPr>
        <p:spPr>
          <a:xfrm>
            <a:off x="697357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仿真复现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9E6995-576F-96F2-9C35-A38D3816F9FD}"/>
              </a:ext>
            </a:extLst>
          </p:cNvPr>
          <p:cNvSpPr txBox="1"/>
          <p:nvPr/>
        </p:nvSpPr>
        <p:spPr>
          <a:xfrm>
            <a:off x="9900411" y="121920"/>
            <a:ext cx="1532637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总结与展望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3D6AB6-E703-72D2-0A55-FB6681039E02}"/>
              </a:ext>
            </a:extLst>
          </p:cNvPr>
          <p:cNvSpPr txBox="1"/>
          <p:nvPr/>
        </p:nvSpPr>
        <p:spPr>
          <a:xfrm>
            <a:off x="646683" y="111805"/>
            <a:ext cx="199714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2000" b="1" dirty="0">
                <a:latin typeface="微软雅黑"/>
                <a:ea typeface="微软雅黑"/>
              </a:rPr>
              <a:t>研究背景与贡献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7D82D0-8436-79C0-9F8F-7400BC93F678}"/>
              </a:ext>
            </a:extLst>
          </p:cNvPr>
          <p:cNvSpPr txBox="1"/>
          <p:nvPr/>
        </p:nvSpPr>
        <p:spPr>
          <a:xfrm>
            <a:off x="3934460" y="121920"/>
            <a:ext cx="1308100" cy="38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26062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主要方法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9DC01C-DDC3-CD72-8FAC-BB7A81F0153F}"/>
              </a:ext>
            </a:extLst>
          </p:cNvPr>
          <p:cNvSpPr txBox="1"/>
          <p:nvPr/>
        </p:nvSpPr>
        <p:spPr>
          <a:xfrm>
            <a:off x="65658" y="686425"/>
            <a:ext cx="6296024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局限与改进方向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9F0E281A-9AC9-E24B-1431-83A0646BF7FD}"/>
              </a:ext>
            </a:extLst>
          </p:cNvPr>
          <p:cNvSpPr/>
          <p:nvPr/>
        </p:nvSpPr>
        <p:spPr>
          <a:xfrm>
            <a:off x="549058" y="1494886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01. </a:t>
            </a:r>
            <a:r>
              <a:rPr lang="en-US" sz="2000" b="1" i="0" u="none" strike="noStrike" dirty="0" err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当前方法的局限性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6">
            <a:extLst>
              <a:ext uri="{FF2B5EF4-FFF2-40B4-BE49-F238E27FC236}">
                <a16:creationId xmlns:a16="http://schemas.microsoft.com/office/drawing/2014/main" id="{FC7C1CDA-BD90-8567-2A95-4A28907C56D4}"/>
              </a:ext>
            </a:extLst>
          </p:cNvPr>
          <p:cNvSpPr/>
          <p:nvPr/>
        </p:nvSpPr>
        <p:spPr>
          <a:xfrm>
            <a:off x="549058" y="2383886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7">
            <a:extLst>
              <a:ext uri="{FF2B5EF4-FFF2-40B4-BE49-F238E27FC236}">
                <a16:creationId xmlns:a16="http://schemas.microsoft.com/office/drawing/2014/main" id="{9CEDD12B-64C1-D7C9-1C4B-49BEF980E951}"/>
              </a:ext>
            </a:extLst>
          </p:cNvPr>
          <p:cNvSpPr/>
          <p:nvPr/>
        </p:nvSpPr>
        <p:spPr>
          <a:xfrm>
            <a:off x="549058" y="2383886"/>
            <a:ext cx="76200" cy="10795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8">
            <a:extLst>
              <a:ext uri="{FF2B5EF4-FFF2-40B4-BE49-F238E27FC236}">
                <a16:creationId xmlns:a16="http://schemas.microsoft.com/office/drawing/2014/main" id="{60B45844-BDCB-3C26-0B85-FD24606555D9}"/>
              </a:ext>
            </a:extLst>
          </p:cNvPr>
          <p:cNvSpPr/>
          <p:nvPr/>
        </p:nvSpPr>
        <p:spPr>
          <a:xfrm>
            <a:off x="803058" y="2485486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依赖飞行数据，缺乏普适性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方法的前提是无人机具备稳定飞行能力，无法直接迁移至从未进行过飞行实验的全新无人机平台，前期准备成本较高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</p:txBody>
      </p:sp>
      <p:sp>
        <p:nvSpPr>
          <p:cNvPr id="41" name="AutoShape 9">
            <a:extLst>
              <a:ext uri="{FF2B5EF4-FFF2-40B4-BE49-F238E27FC236}">
                <a16:creationId xmlns:a16="http://schemas.microsoft.com/office/drawing/2014/main" id="{4E6C227E-C829-5F81-639E-C01D8B4D063C}"/>
              </a:ext>
            </a:extLst>
          </p:cNvPr>
          <p:cNvSpPr/>
          <p:nvPr/>
        </p:nvSpPr>
        <p:spPr>
          <a:xfrm>
            <a:off x="549058" y="3653886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10">
            <a:extLst>
              <a:ext uri="{FF2B5EF4-FFF2-40B4-BE49-F238E27FC236}">
                <a16:creationId xmlns:a16="http://schemas.microsoft.com/office/drawing/2014/main" id="{AB7D2680-AF65-714C-F43E-666DCB2B45C0}"/>
              </a:ext>
            </a:extLst>
          </p:cNvPr>
          <p:cNvSpPr/>
          <p:nvPr/>
        </p:nvSpPr>
        <p:spPr>
          <a:xfrm>
            <a:off x="549058" y="3653886"/>
            <a:ext cx="76200" cy="10795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AutoShape 11">
            <a:extLst>
              <a:ext uri="{FF2B5EF4-FFF2-40B4-BE49-F238E27FC236}">
                <a16:creationId xmlns:a16="http://schemas.microsoft.com/office/drawing/2014/main" id="{73F6AFDE-1EA1-B835-5421-CA9A0FDCCC9C}"/>
              </a:ext>
            </a:extLst>
          </p:cNvPr>
          <p:cNvSpPr/>
          <p:nvPr/>
        </p:nvSpPr>
        <p:spPr>
          <a:xfrm>
            <a:off x="803058" y="3755486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模型有待改善</a:t>
            </a:r>
          </a:p>
          <a:p>
            <a:pPr>
              <a:lnSpc>
                <a:spcPct val="108000"/>
              </a:lnSpc>
            </a:pPr>
            <a:r>
              <a:rPr lang="zh-CN" altLang="en-US" sz="1400" dirty="0"/>
              <a:t>针目前单一电机延迟常数无法区别加速与减速的不对称性，更精细的模型有利于提高预测精度。同时未考虑复杂动力学模型。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4" name="AutoShape 12">
            <a:extLst>
              <a:ext uri="{FF2B5EF4-FFF2-40B4-BE49-F238E27FC236}">
                <a16:creationId xmlns:a16="http://schemas.microsoft.com/office/drawing/2014/main" id="{D498CECA-1C13-ADAB-E12B-FC39606458D8}"/>
              </a:ext>
            </a:extLst>
          </p:cNvPr>
          <p:cNvSpPr/>
          <p:nvPr/>
        </p:nvSpPr>
        <p:spPr>
          <a:xfrm>
            <a:off x="549058" y="4923886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098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13">
            <a:extLst>
              <a:ext uri="{FF2B5EF4-FFF2-40B4-BE49-F238E27FC236}">
                <a16:creationId xmlns:a16="http://schemas.microsoft.com/office/drawing/2014/main" id="{2F573048-A3BC-A750-A3F4-88308567C66C}"/>
              </a:ext>
            </a:extLst>
          </p:cNvPr>
          <p:cNvSpPr/>
          <p:nvPr/>
        </p:nvSpPr>
        <p:spPr>
          <a:xfrm>
            <a:off x="549058" y="4923886"/>
            <a:ext cx="76200" cy="1079500"/>
          </a:xfrm>
          <a:prstGeom prst="roundRect">
            <a:avLst>
              <a:gd name="adj" fmla="val 0"/>
            </a:avLst>
          </a:prstGeom>
          <a:solidFill>
            <a:srgbClr val="0040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utoShape 14">
            <a:extLst>
              <a:ext uri="{FF2B5EF4-FFF2-40B4-BE49-F238E27FC236}">
                <a16:creationId xmlns:a16="http://schemas.microsoft.com/office/drawing/2014/main" id="{A558218B-226D-DFEB-6D87-8AA77BA3B46C}"/>
              </a:ext>
            </a:extLst>
          </p:cNvPr>
          <p:cNvSpPr/>
          <p:nvPr/>
        </p:nvSpPr>
        <p:spPr>
          <a:xfrm>
            <a:off x="803058" y="5025486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泛化性较低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目前仅针对一种类型的飞行器进行系统辨识，无法验证对其他类型飞行器的通用性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</p:txBody>
      </p:sp>
      <p:cxnSp>
        <p:nvCxnSpPr>
          <p:cNvPr id="47" name="Connector 15">
            <a:extLst>
              <a:ext uri="{FF2B5EF4-FFF2-40B4-BE49-F238E27FC236}">
                <a16:creationId xmlns:a16="http://schemas.microsoft.com/office/drawing/2014/main" id="{56546E1A-5B1E-C4A0-77F8-3179A3845AD0}"/>
              </a:ext>
            </a:extLst>
          </p:cNvPr>
          <p:cNvCxnSpPr/>
          <p:nvPr/>
        </p:nvCxnSpPr>
        <p:spPr>
          <a:xfrm rot="5389889">
            <a:off x="3851058" y="3774545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AutoShape 16">
            <a:extLst>
              <a:ext uri="{FF2B5EF4-FFF2-40B4-BE49-F238E27FC236}">
                <a16:creationId xmlns:a16="http://schemas.microsoft.com/office/drawing/2014/main" id="{8113FD1A-A3EE-3D30-C223-0180A3725998}"/>
              </a:ext>
            </a:extLst>
          </p:cNvPr>
          <p:cNvSpPr/>
          <p:nvPr/>
        </p:nvSpPr>
        <p:spPr>
          <a:xfrm>
            <a:off x="6264058" y="1494886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02. 未来工作展望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17">
            <a:extLst>
              <a:ext uri="{FF2B5EF4-FFF2-40B4-BE49-F238E27FC236}">
                <a16:creationId xmlns:a16="http://schemas.microsoft.com/office/drawing/2014/main" id="{34CB367D-D9D6-7EDF-6A51-C8C6D1D064FA}"/>
              </a:ext>
            </a:extLst>
          </p:cNvPr>
          <p:cNvSpPr/>
          <p:nvPr/>
        </p:nvSpPr>
        <p:spPr>
          <a:xfrm>
            <a:off x="6264058" y="2383886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19">
            <a:extLst>
              <a:ext uri="{FF2B5EF4-FFF2-40B4-BE49-F238E27FC236}">
                <a16:creationId xmlns:a16="http://schemas.microsoft.com/office/drawing/2014/main" id="{07580C0B-BCA4-F064-EFF2-0AF47F2BDEFF}"/>
              </a:ext>
            </a:extLst>
          </p:cNvPr>
          <p:cNvSpPr/>
          <p:nvPr/>
        </p:nvSpPr>
        <p:spPr>
          <a:xfrm>
            <a:off x="6438378" y="2485486"/>
            <a:ext cx="490568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分离式的电机模型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针对电机指令的上升沿和下降沿分别建立不同的电机动态模型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</p:txBody>
      </p:sp>
      <p:sp>
        <p:nvSpPr>
          <p:cNvPr id="51" name="AutoShape 20">
            <a:extLst>
              <a:ext uri="{FF2B5EF4-FFF2-40B4-BE49-F238E27FC236}">
                <a16:creationId xmlns:a16="http://schemas.microsoft.com/office/drawing/2014/main" id="{1353BA93-1A41-4EC1-C3E2-90B201642279}"/>
              </a:ext>
            </a:extLst>
          </p:cNvPr>
          <p:cNvSpPr/>
          <p:nvPr/>
        </p:nvSpPr>
        <p:spPr>
          <a:xfrm>
            <a:off x="6264058" y="3653886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22">
            <a:extLst>
              <a:ext uri="{FF2B5EF4-FFF2-40B4-BE49-F238E27FC236}">
                <a16:creationId xmlns:a16="http://schemas.microsoft.com/office/drawing/2014/main" id="{068D1CC1-FA73-14FF-5202-947C6E81C050}"/>
              </a:ext>
            </a:extLst>
          </p:cNvPr>
          <p:cNvSpPr/>
          <p:nvPr/>
        </p:nvSpPr>
        <p:spPr>
          <a:xfrm>
            <a:off x="6438378" y="3755486"/>
            <a:ext cx="490568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探究“互易参数化”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对转动惯量采用倒数化有时能改善拟合效果，进一步研究倒参数化对最小二乘辨识的影响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</a:p>
        </p:txBody>
      </p:sp>
      <p:sp>
        <p:nvSpPr>
          <p:cNvPr id="53" name="AutoShape 23">
            <a:extLst>
              <a:ext uri="{FF2B5EF4-FFF2-40B4-BE49-F238E27FC236}">
                <a16:creationId xmlns:a16="http://schemas.microsoft.com/office/drawing/2014/main" id="{B9599631-01E6-854C-763A-B440EDC5F677}"/>
              </a:ext>
            </a:extLst>
          </p:cNvPr>
          <p:cNvSpPr/>
          <p:nvPr/>
        </p:nvSpPr>
        <p:spPr>
          <a:xfrm>
            <a:off x="6264058" y="4923886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4098">
              <a:alpha val="5000"/>
            </a:srgbClr>
          </a:solidFill>
          <a:ln w="12700" cap="flat" cmpd="sng">
            <a:solidFill>
              <a:srgbClr val="00409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25">
            <a:extLst>
              <a:ext uri="{FF2B5EF4-FFF2-40B4-BE49-F238E27FC236}">
                <a16:creationId xmlns:a16="http://schemas.microsoft.com/office/drawing/2014/main" id="{08C1450C-FD98-FB57-32DD-01114EBC5019}"/>
              </a:ext>
            </a:extLst>
          </p:cNvPr>
          <p:cNvSpPr/>
          <p:nvPr/>
        </p:nvSpPr>
        <p:spPr>
          <a:xfrm>
            <a:off x="6438378" y="5025486"/>
            <a:ext cx="490568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精细化空气动力学效应建模</a:t>
            </a:r>
            <a:r>
              <a:rPr lang="zh-CN" altLang="en-US" sz="1600" b="1" i="0" u="none" strike="noStrike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与拓展平台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引入桨叶挥舞、机身气动阻尼及干扰流场等复杂动力学模型，提高模型在高速机动和近地飞行工况下的描述精度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同时将方法推广到其它类型的飞行器</a:t>
            </a:r>
            <a:r>
              <a:rPr lang="en-US" altLang="zh-CN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(</a:t>
            </a:r>
            <a:r>
              <a:rPr lang="zh-CN" altLang="en-US" sz="14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如共轴双浆，六旋翼等</a:t>
            </a:r>
            <a:r>
              <a:rPr lang="en-US" altLang="zh-CN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500000000000000" charset="-122"/>
                <a:sym typeface="Noto Sans SC" panose="020B0500000000000000" charset="-122"/>
              </a:rPr>
              <a:t>)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921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6AC6-179B-1F88-76F9-33936008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0ADD36-55B2-82EC-ECE0-102C0D6B24AC}"/>
              </a:ext>
            </a:extLst>
          </p:cNvPr>
          <p:cNvSpPr/>
          <p:nvPr/>
        </p:nvSpPr>
        <p:spPr>
          <a:xfrm>
            <a:off x="0" y="2031207"/>
            <a:ext cx="12192000" cy="2795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spc="250" dirty="0">
                <a:solidFill>
                  <a:schemeClr val="bg1"/>
                </a:solidFill>
                <a:latin typeface="+mn-ea"/>
              </a:rPr>
              <a:t>谢谢！</a:t>
            </a:r>
            <a:endParaRPr lang="zh-CN" altLang="en-US" sz="48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6CC186-931D-D602-F56B-BB762B6514B3}"/>
              </a:ext>
            </a:extLst>
          </p:cNvPr>
          <p:cNvCxnSpPr/>
          <p:nvPr/>
        </p:nvCxnSpPr>
        <p:spPr>
          <a:xfrm>
            <a:off x="0" y="194786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72BD9D5-20A7-DD08-7193-625F8E4EDD91}"/>
              </a:ext>
            </a:extLst>
          </p:cNvPr>
          <p:cNvCxnSpPr/>
          <p:nvPr/>
        </p:nvCxnSpPr>
        <p:spPr>
          <a:xfrm>
            <a:off x="0" y="4910138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E159C06-224C-0F21-9DA7-5DA7EAF4EC76}"/>
              </a:ext>
            </a:extLst>
          </p:cNvPr>
          <p:cNvSpPr txBox="1"/>
          <p:nvPr/>
        </p:nvSpPr>
        <p:spPr>
          <a:xfrm>
            <a:off x="5941067" y="4062821"/>
            <a:ext cx="30988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2200" spc="2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3BD18E-2980-C4F0-E5E0-86EB2411BA1F}"/>
              </a:ext>
            </a:extLst>
          </p:cNvPr>
          <p:cNvSpPr txBox="1"/>
          <p:nvPr/>
        </p:nvSpPr>
        <p:spPr>
          <a:xfrm>
            <a:off x="8371588" y="408924"/>
            <a:ext cx="1692492" cy="709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5B9FD0-B2E2-B367-A6C1-F0AC51193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447" y="347966"/>
            <a:ext cx="3477239" cy="89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76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NlZTVjZjI1ZTcyMWNjMjJiODRkOTFlMDY2NDlhN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中科院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C4994"/>
      </a:accent1>
      <a:accent2>
        <a:srgbClr val="CA865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3010</TotalTime>
  <Words>1002</Words>
  <Application>Microsoft Office PowerPoint</Application>
  <PresentationFormat>宽屏</PresentationFormat>
  <Paragraphs>196</Paragraphs>
  <Slides>25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Noto Sans SC</vt:lpstr>
      <vt:lpstr>等线</vt:lpstr>
      <vt:lpstr>宋体</vt:lpstr>
      <vt:lpstr>微软雅黑</vt:lpstr>
      <vt:lpstr>微软雅黑 Light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天 吴</cp:lastModifiedBy>
  <cp:revision>106</cp:revision>
  <dcterms:created xsi:type="dcterms:W3CDTF">2024-03-12T06:29:00Z</dcterms:created>
  <dcterms:modified xsi:type="dcterms:W3CDTF">2026-07-20T03:38:19Z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297B3A2A8576445290F0791B04EF115F_13</vt:lpwstr>
  </property>
  <property fmtid="{D5CDD505-2E9C-101B-9397-08002B2CF9AE}" pid="3" name="KSOProductBuildVer">
    <vt:lpwstr>2052-12.1.0.18276</vt:lpwstr>
  </property>
</Properties>
</file>